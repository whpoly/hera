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b2d593379949e0" /><Relationship Type="http://schemas.openxmlformats.org/officeDocument/2006/relationships/extended-properties" Target="/docProps/app.xml" Id="Rbef6d5f1a94846ac" /><Relationship Type="http://schemas.openxmlformats.org/officeDocument/2006/relationships/officeDocument" Target="/ppt/presentation.xml" Id="R02ea2382c65a40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d9d34ca4304c9e"/>
  </p:sldMasterIdLst>
  <p:notesMasterIdLst>
    <p:notesMasterId xmlns:r="http://schemas.openxmlformats.org/officeDocument/2006/relationships" r:id="R498e8bffe1f44bbb"/>
  </p:notesMasterIdLst>
  <p:sldIdLst>
    <p:sldId xmlns:r="http://schemas.openxmlformats.org/officeDocument/2006/relationships" id="256" r:id="R86e54cbb8eea47e5"/>
    <p:sldId xmlns:r="http://schemas.openxmlformats.org/officeDocument/2006/relationships" id="257" r:id="R177928194ed94fce"/>
    <p:sldId xmlns:r="http://schemas.openxmlformats.org/officeDocument/2006/relationships" id="258" r:id="Re12b59302d8d41ad"/>
    <p:sldId xmlns:r="http://schemas.openxmlformats.org/officeDocument/2006/relationships" id="259" r:id="R4ed975d4a770473d"/>
    <p:sldId xmlns:r="http://schemas.openxmlformats.org/officeDocument/2006/relationships" id="260" r:id="Rc678d9ed80384a8d"/>
    <p:sldId xmlns:r="http://schemas.openxmlformats.org/officeDocument/2006/relationships" id="261" r:id="R459ff1a33e2a4dbc"/>
    <p:sldId xmlns:r="http://schemas.openxmlformats.org/officeDocument/2006/relationships" id="262" r:id="R5a5bd29043784cbc"/>
    <p:sldId xmlns:r="http://schemas.openxmlformats.org/officeDocument/2006/relationships" id="263" r:id="R55c191950ec74556"/>
    <p:sldId xmlns:r="http://schemas.openxmlformats.org/officeDocument/2006/relationships" id="264" r:id="R4cc8fb3125fd4246"/>
    <p:sldId xmlns:r="http://schemas.openxmlformats.org/officeDocument/2006/relationships" id="265" r:id="Rbda3f782a487456e"/>
    <p:sldId xmlns:r="http://schemas.openxmlformats.org/officeDocument/2006/relationships" id="266" r:id="Rcf2641f3659e4821"/>
    <p:sldId xmlns:r="http://schemas.openxmlformats.org/officeDocument/2006/relationships" id="267" r:id="R536eaa9c7d3b43d9"/>
    <p:sldId xmlns:r="http://schemas.openxmlformats.org/officeDocument/2006/relationships" id="268" r:id="Rc43bfd62c2c140dc"/>
    <p:sldId xmlns:r="http://schemas.openxmlformats.org/officeDocument/2006/relationships" id="269" r:id="R5da9127b664048c5"/>
    <p:sldId xmlns:r="http://schemas.openxmlformats.org/officeDocument/2006/relationships" id="270" r:id="R2ad248c67a7140d1"/>
    <p:sldId xmlns:r="http://schemas.openxmlformats.org/officeDocument/2006/relationships" id="271" r:id="R8575b36272dd4097"/>
    <p:sldId xmlns:r="http://schemas.openxmlformats.org/officeDocument/2006/relationships" id="272" r:id="Re9acbbd042184bf3"/>
    <p:sldId xmlns:r="http://schemas.openxmlformats.org/officeDocument/2006/relationships" id="273" r:id="Rb56e2106a6f44d78"/>
    <p:sldId xmlns:r="http://schemas.openxmlformats.org/officeDocument/2006/relationships" id="274" r:id="R20ae42be16044d00"/>
    <p:sldId xmlns:r="http://schemas.openxmlformats.org/officeDocument/2006/relationships" id="275" r:id="R55400943c14347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a7faa6d3f749dc" /><Relationship Type="http://schemas.openxmlformats.org/officeDocument/2006/relationships/slideMaster" Target="/ppt/slideMasters/slideMaster1.xml" Id="Rc9d9d34ca4304c9e" /><Relationship Type="http://schemas.openxmlformats.org/officeDocument/2006/relationships/notesMaster" Target="/ppt/notesMasters/notesMaster1.xml" Id="R498e8bffe1f44bbb" /><Relationship Type="http://schemas.openxmlformats.org/officeDocument/2006/relationships/presProps" Target="/ppt/presProps.xml" Id="Ra932d1acfb8b4e9f" /><Relationship Type="http://schemas.openxmlformats.org/officeDocument/2006/relationships/tableStyles" Target="/ppt/tableStyles.xml" Id="R1621873c01b048b7" /><Relationship Type="http://schemas.openxmlformats.org/officeDocument/2006/relationships/slide" Target="/ppt/slides/slide1.xml" Id="R86e54cbb8eea47e5" /><Relationship Type="http://schemas.openxmlformats.org/officeDocument/2006/relationships/slide" Target="/ppt/slides/slide2.xml" Id="R177928194ed94fce" /><Relationship Type="http://schemas.openxmlformats.org/officeDocument/2006/relationships/slide" Target="/ppt/slides/slide3.xml" Id="Re12b59302d8d41ad" /><Relationship Type="http://schemas.openxmlformats.org/officeDocument/2006/relationships/slide" Target="/ppt/slides/slide4.xml" Id="R4ed975d4a770473d" /><Relationship Type="http://schemas.openxmlformats.org/officeDocument/2006/relationships/slide" Target="/ppt/slides/slide5.xml" Id="Rc678d9ed80384a8d" /><Relationship Type="http://schemas.openxmlformats.org/officeDocument/2006/relationships/slide" Target="/ppt/slides/slide6.xml" Id="R459ff1a33e2a4dbc" /><Relationship Type="http://schemas.openxmlformats.org/officeDocument/2006/relationships/slide" Target="/ppt/slides/slide7.xml" Id="R5a5bd29043784cbc" /><Relationship Type="http://schemas.openxmlformats.org/officeDocument/2006/relationships/slide" Target="/ppt/slides/slide8.xml" Id="R55c191950ec74556" /><Relationship Type="http://schemas.openxmlformats.org/officeDocument/2006/relationships/slide" Target="/ppt/slides/slide9.xml" Id="R4cc8fb3125fd4246" /><Relationship Type="http://schemas.openxmlformats.org/officeDocument/2006/relationships/slide" Target="/ppt/slides/slide10.xml" Id="Rbda3f782a487456e" /><Relationship Type="http://schemas.openxmlformats.org/officeDocument/2006/relationships/slide" Target="/ppt/slides/slide11.xml" Id="Rcf2641f3659e4821" /><Relationship Type="http://schemas.openxmlformats.org/officeDocument/2006/relationships/slide" Target="/ppt/slides/slide12.xml" Id="R536eaa9c7d3b43d9" /><Relationship Type="http://schemas.openxmlformats.org/officeDocument/2006/relationships/slide" Target="/ppt/slides/slide13.xml" Id="Rc43bfd62c2c140dc" /><Relationship Type="http://schemas.openxmlformats.org/officeDocument/2006/relationships/slide" Target="/ppt/slides/slide14.xml" Id="R5da9127b664048c5" /><Relationship Type="http://schemas.openxmlformats.org/officeDocument/2006/relationships/slide" Target="/ppt/slides/slide15.xml" Id="R2ad248c67a7140d1" /><Relationship Type="http://schemas.openxmlformats.org/officeDocument/2006/relationships/slide" Target="/ppt/slides/slide16.xml" Id="R8575b36272dd4097" /><Relationship Type="http://schemas.openxmlformats.org/officeDocument/2006/relationships/slide" Target="/ppt/slides/slide17.xml" Id="Re9acbbd042184bf3" /><Relationship Type="http://schemas.openxmlformats.org/officeDocument/2006/relationships/slide" Target="/ppt/slides/slide18.xml" Id="Rb56e2106a6f44d78" /><Relationship Type="http://schemas.openxmlformats.org/officeDocument/2006/relationships/slide" Target="/ppt/slides/slide19.xml" Id="R20ae42be16044d00" /><Relationship Type="http://schemas.openxmlformats.org/officeDocument/2006/relationships/slide" Target="/ppt/slides/slide20.xml" Id="R55400943c14347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acd628257842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d2dee9304341e3" /><Relationship Type="http://schemas.openxmlformats.org/officeDocument/2006/relationships/notesMaster" Target="/ppt/notesMasters/notesMaster1.xml" Id="R381f867ebe6a40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af5077b8b04bac" /><Relationship Type="http://schemas.openxmlformats.org/officeDocument/2006/relationships/notesMaster" Target="/ppt/notesMasters/notesMaster1.xml" Id="Rfa0e18275fad4f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2b2ef215fa4784" /><Relationship Type="http://schemas.openxmlformats.org/officeDocument/2006/relationships/notesMaster" Target="/ppt/notesMasters/notesMaster1.xml" Id="Rdee00611a4e748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903c975f9f4a47" /><Relationship Type="http://schemas.openxmlformats.org/officeDocument/2006/relationships/notesMaster" Target="/ppt/notesMasters/notesMaster1.xml" Id="Ra3bec9b6b44f45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ec07228b474d3d" /><Relationship Type="http://schemas.openxmlformats.org/officeDocument/2006/relationships/notesMaster" Target="/ppt/notesMasters/notesMaster1.xml" Id="Ra68a2c52c3414f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200575b5e2485c" /><Relationship Type="http://schemas.openxmlformats.org/officeDocument/2006/relationships/notesMaster" Target="/ppt/notesMasters/notesMaster1.xml" Id="R913979ec2b80464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3c24a8e7547ff" /><Relationship Type="http://schemas.openxmlformats.org/officeDocument/2006/relationships/notesMaster" Target="/ppt/notesMasters/notesMaster1.xml" Id="Rfa472dca83dc41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e273d12b164d40" /><Relationship Type="http://schemas.openxmlformats.org/officeDocument/2006/relationships/notesMaster" Target="/ppt/notesMasters/notesMaster1.xml" Id="Rff265b48a12341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869e38850b46ba" /><Relationship Type="http://schemas.openxmlformats.org/officeDocument/2006/relationships/notesMaster" Target="/ppt/notesMasters/notesMaster1.xml" Id="R932db6910ed64b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b49266e86f94241" /><Relationship Type="http://schemas.openxmlformats.org/officeDocument/2006/relationships/notesMaster" Target="/ppt/notesMasters/notesMaster1.xml" Id="Rf09340da57f045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d7a68960774636" /><Relationship Type="http://schemas.openxmlformats.org/officeDocument/2006/relationships/notesMaster" Target="/ppt/notesMasters/notesMaster1.xml" Id="R4e8e1128168b46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7222cdb20b4c81" /><Relationship Type="http://schemas.openxmlformats.org/officeDocument/2006/relationships/notesMaster" Target="/ppt/notesMasters/notesMaster1.xml" Id="R04afb6eeffcc42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f20c2737504c61" /><Relationship Type="http://schemas.openxmlformats.org/officeDocument/2006/relationships/notesMaster" Target="/ppt/notesMasters/notesMaster1.xml" Id="R76c433f64df144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1c6ab9ccd94805" /><Relationship Type="http://schemas.openxmlformats.org/officeDocument/2006/relationships/notesMaster" Target="/ppt/notesMasters/notesMaster1.xml" Id="R255ae3872f86490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8bdaf88c474bb2" /><Relationship Type="http://schemas.openxmlformats.org/officeDocument/2006/relationships/notesMaster" Target="/ppt/notesMasters/notesMaster1.xml" Id="Ra106fc61ab29478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0107a13e58492c" /><Relationship Type="http://schemas.openxmlformats.org/officeDocument/2006/relationships/notesMaster" Target="/ppt/notesMasters/notesMaster1.xml" Id="Rc86d5463ff3845c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eab9183bc464d57" /><Relationship Type="http://schemas.openxmlformats.org/officeDocument/2006/relationships/notesMaster" Target="/ppt/notesMasters/notesMaster1.xml" Id="R9e9d1e8fb8c641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1490f2191b4075" /><Relationship Type="http://schemas.openxmlformats.org/officeDocument/2006/relationships/notesMaster" Target="/ppt/notesMasters/notesMaster1.xml" Id="R98dae36ab60e4bf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b68033eee7456c" /><Relationship Type="http://schemas.openxmlformats.org/officeDocument/2006/relationships/notesMaster" Target="/ppt/notesMasters/notesMaster1.xml" Id="Rfa45a12256b9482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c47100a48da443e" /><Relationship Type="http://schemas.openxmlformats.org/officeDocument/2006/relationships/notesMaster" Target="/ppt/notesMasters/notesMaster1.xml" Id="R841d84abbf3140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这次汇报接着之前的异构图工作，重点收敛到 2DMD 的低缺陷浓度训练、高缺陷浓度测试。首先说明数据与评估口径，然后介绍共享关系参数和逐缺陷能量读出，再讨论材料差异、超图消融和可复现性。日期按本次整理日期填写，可按实际组会日期修改。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C:/Users/User/Desktop/group meeting 20250805.pptx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最重要的新结果来自同一份 mixed-low 训练的共享 hetero checkpoint：MoS₂ high 误差 0.04554，WSe₂ high 误差 0.05905。相对于历史记录，MoS₂ 改善显著，但历史实验没有统一代码和推理精度，所以不能把改善全部归因于某一个改动。当前仍有明显的高浓度系统性高估。超图方面，新的读出明显缓解了旧版本的大误差，但在严格对应的超图更新消融里，关闭更新的版本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预测目标核对为 formation_energy 除以缺陷数量，单位是 eV/defect，不是对所有原子平均。每种材料的 low 原始数据有 5933 条，其中 5802 条恰好 3 个缺陷，占约 97.8%。high 包含 4、9、14、19、24 个缺陷，每组 100 条。低浓度验证误差小只能说明 low 域拟合好，不能代表模型已经学会高浓度相互作用。mixed-low 经预处理保留 11864 条，和两个原始 low 子集简单相加的 11866 条有区别。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这里有四种口径，必须分开。low benchmark 的 test 仍然来自 low；high benchmark 在包含六种材料的 high 数据中做域内划分。single-material 是某一种材料的 low 训练，测试同一材料的全部 high。mixed-material 使用混合 MoS₂/WSe₂ low 训练的一份模型，分别测试两个材料的 high，不包括另外四种训练未见材料。所有 checkpoint 都按训练域验证集选择。最近反复查看 high 来提出模型修改，因此 high 已参与开发反馈，后续更强的泛化结论需要冻结实验设置并增加独立外部验证。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这里避免把 sparse、attention 和 hetero 当成只差一个 pooling 的模型。sparse 使用 MEGNet 的缺陷图和 12 Å 距离，输入包含当前及原位元素，块内用了 max，但最终读出是节点和边的 Set2Set 再加全局状态。attention 和 hetero 使用 ALIGNN 的距离与角度主干，通常 cutoff 6 Å。attention 用节点类型参与局部与全局注意力，hetero 则保留四种关系，并共享消息主体。HERA 的 DefiNet 是标记对门控的 scalar 实现，不应当称为原论文所有分支的完整复现。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C:/Users/User/Desktop/HERA/config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这页左侧是之前的 independent，右侧是当前实验的 shared_residual，不应把纯 shared 与当前基线混为一谈。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对一条 j→i、关系为 r 的边，旧版完整公式（省略层指标）是：z_ij^r = W_s^r h_j + W_t^r h_i + W_e^r e_ij + b_z^r，v_ij^r = W_m^r h_j + b_m^r，m_ij^r = sigmoid(z_ij^r) ⊙ v_ij^r。四种关系各自有一套完整参数。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当前版本：z_ij = W_s h_j + W_t h_i + W_e e_ij + b_z，v_ij = W_m h_j + b_m，[delta_z_ij^r, delta_v_ij^r] = sigmoid(a_r) [B_r SiLU(A_r [h_j,h_i,e_ij] + b_A,r) + b_B,r]，m_ij^r = sigmoid(z_ij + delta_z_ij^r) ⊙ (v_ij + delta_v_ij^r)。slide 中省略了边指标和 affine biases，W_s/W_t/W_e/W_m 统称 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同一层的四种关系共享 W。每种关系各有 A_r、B_r、a_r，同一关系内所有边共用该 adapter。不同层之间不共享。隐层 H=64，adapter 为 192→8→128，128 维分为 64 维 gate 修正和 64 维 value 修正。B 的权重和 bias 零初始化，a 初值 -3，因此初始残差为 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聚合公式没有改变：M_i^r = [sum_{j in N_r(i)} m_ij^r] / [sum_{j in N_r(i)} sigmoid(z_ij^r, effective) + 1e-6]，逐通道相除。各关系分别归一化，再按节点类型拼接关系槽做融合。不是所有关系的边共同做一次 softmax。边状态仍按 e'_ij = e_ij + SiLU(LN(z_ij^r, effective)) 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节点类型 embedding、四套初始距离编码、节点类型融合仍有区别。参数数目沿用该 PPT 原来的同宽度对照：independent 916289，shared 614465，shared_residual 679193。只把四套消息主体改为共享不能消除所有关系差别。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(HeteroRelationConv, RelationResidualAdapter, SharedHeteroRelations, _hetero_relation_update)</a:t>
            </a:r>
          </a:p>
          <a:p xmlns:a="http://schemas.openxmlformats.org/drawingml/2006/main">
            <a:r>
              <a:t>C:/Users/User/Desktop/HERA/docs/hetero_alignn_shared_relations.md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这里是另一个独立于参数共享的改动。之前的 defect_mean 为 y_hat = g((1/N) sum_{i in D} h_i)，当前实验使用的 defect_energy_mean 为 y_hat = (1/N) sum_{i in D} g(h_i)。D 只包含真实缺陷，N=|D|，所有缺陷使用同一个非线性 MLP g。g 的层宽仍然是 64→64→32→1，参数形状没有改变。代码默认值与具体实验配置要分开理解：本页“当前”指本 PPT 的当前实验配置。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非线性 g 通常不与 mean 交换。旧版先把所有缺陷的 latent representation 混合再预测，新版保留逐缺陷的非线性映射，最后对标量平均。h_i 已经包含环境和其他节点传来的消息，因此 pristine 节点仍间接影响读出。只在图级输出上逆变换 scaler 一次，图级目标仍是平均缺陷形成能。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逐缺陷标量没有单独监督，不能解释为唯一真实的逐缺陷形成能。该读出与 relation sharing 是两个改动，需要分别做消融才能确定各自贡献。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 (HeteroALIGNN readout)</a:t>
            </a:r>
          </a:p>
          <a:p xmlns:a="http://schemas.openxmlformats.org/drawingml/2006/main">
            <a:r>
              <a:t>C:/Users/User/Desktop/HERA/docs/hetero_defect_energy_mean.md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这页所有模型都用 mixed low 训练。当前共享 hetero 通过一份最佳 epoch 303 的 checkpoint 分别预测两个 high 子集，用 FP32、batch 1。历史 baseline 已核对测试 ID 和标签一致，但没有统一代码和精度重训，因此只做历史结果比较。MoS₂ 相对旧 hetero 从 179.64 降至 45.54 meV，改善约 74.7%；WSe₂ 从 59.77 降至 59.05，基本相近。不能将当前结果直接宣称为所有配置下都优于 attention 或 sparse，更不能与单材料训练结果混为一组。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 500 条 high 按缺陷数分组后，误差随数量增加明显上升。4 个缺陷时 WSe₂ 比 MoS₂ 更低，但到了 24 个缺陷时 WSe₂ 达到 121.19 meV。右图定义偏差为预测减真实。24 缺陷时 MAE 与正偏差非常接近，说明误差主要由系统性高估构成，单纯增加优化轮数并不能直接针对这一现象。数据支持高浓度泛化是主要限制，但还不能唯一确定是几何交互、关系频率还是表示和读出的相关性造成。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这页改为单材料训练口径，不能与上一页 mixed-low 混合排名。MoS₂ 的新 hetero 0.036838 来自用户贴出的训练 history 和明确的实验目录，该 checkpoint 尚未本地核对，标星展示。WSe₂ 新 hetero checkpoint 已下载，保存的 test MAE 为 0.052188；它仍比 sparse 0.036967、attention 0.046233 大。旧版 WSe₂ sparse、attention、hetero 的全 high 复核保留了排序，因此目前没有证据说明优势来自简单的测试集读错。但该比较没有固定 backbone、特征与所有训练条件，不能把差异唯一归于材料本身。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C:\Users\User\.codex\attachments\40916e91-6e79-4164-b78f-70d54f1072a5\pasted-text.txt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同样在 WSe₂ high 上，mixed-low sparse 与 attention 的历史结果比单材料训练差很多。一个明确的混杂因素是 mixed 60/20/20 划分只用了 3588 条 WSe₂ 训练结构，而单材料 80/20 划分用了 4746 条 WSe₂。也存在历史版本不同，例如 mixed attention 的旧 BN 与单材料较新配置。因而不能直接归因于负迁移。更可靠的对照是保持相同 WSe₂ 训练 ID，再加入 MoS₂ 数据，并匹配总优化步数、材料采样与 checkpoint 选择。当前 shared hetero 的 mixed 和 single WSe₂ 差距较小，但仍只有单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之前以为结果在 0.1 左右，后来看到 0.25 或 0.06，关键是版本不一致。v2 为 0.168732；旧 v3 使用分层 attention 读出，checkpoint 的预测头输入 256 维，结果 0.250031。后来的 defect_mean 去掉额外背景读出分支，预测头输入 64 维，重新训练的 local+global 为 0.068386。不能将推理时临时换 pooling 的实验解释为新版本训练成绩，也不能把不同版本所有改善都归因于唯一因素。接下来用同一版本的更新消融判断超边消息是否有贡献。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这三组才是当前相对明确的超图消息对照，物理主干、读出和初始权重一致。关闭整个超图更新块为 0.06194，local 0.07582，local+global 0.06839。global 相对 local 减少了一部分误差，但仍然没超过关闭更新。这个结果不支持“local 永远没用”，也不能评价尚未完成的 global-only 或 energy-mean 组合。当前局部超边由中心 defect 和 3 Å 内 pristine 构成，不包含其他 defect；全局超边连接全部 defects，没有直接输入成对的 defect 距离。单 seed 结果需要复验。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C:/Users/User/Desktop/HERA/docs/hypergraph_update_ablation.md</a:t>
            </a:r>
          </a:p>
          <a:p xmlns:a="http://schemas.openxmlformats.org/drawingml/2006/main">
            <a:r>
              <a:t>C:/Users/User/Desktop/HERA/docs/hypergraph_energy_global_ablation.md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MoS₂ sparse 新跑出的 high 误差比本地记录高约 19.2%，虽然 low 验证更好。已确认本地旧 checkpoint 与当前 sparse 默认配置和参数形状匹配，但新远端权重与环境未完全核对，不能断言两次一切相同。独立进程短测试固定了代码、环境、图、初始化和 batch 顺序。GPU 固定权重推理完全一致，第一步梯度开始出现约 7.45e-9 的差异，100 步后最大预测差约 1.86e-5；CPU 单线程完全一致。这证明训练数值可重复性有限，不能证明这么小的差异必然导致历史 0.03 的 MAE 差。后续要记录代码、环境和划分并跑多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  <a:p xmlns:a="http://schemas.openxmlformats.org/drawingml/2006/main">
            <a:r>
              <a:t>C:/Users/User/Desktop/HERA/logs/sparse_reproducibility/20260915_021549_556655/report.json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当前基线已经完成结果分析。下一步两个选项都已实现，但没有本地完整训练结果。跨关系注意力复用 gate logits，对同一目标的所有关系入边统一逐通道 softmax，仍保留关系消息槽。它不是原 attention 的四头网络完全复制。sparse residual 在主干读出之前加入 12 Å 的真实缺陷间消息，使用距离 RBF 和 gated message，按照用户确定的普通 mean 聚合，不能写成 max。输出投影从零初始化，因此初始模型与 baseline 完全相同。优先分开测试，避免把多个改动叠加后无法解释。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C:/Users/User/Desktop/HERA/docs/hetero_interaction_ablation.md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已经补齐 main 与 low checkpoint 推理脚本。all 覆盖三个 backbone 的适用模式，共 32 个非重复配置，两个数据集合计 64 组 seed123 训练。训练完只筛选 low 权重，在 MoS₂ high 和 WSe₂ high 分开测试，每个 500 条。high 域内 benchmark 则包含六种材料，不能与这两个子集混淆。当前命令是单 seed，不能生成有意义的 seed 方差；多 seed 是下一步。也要明确，各 backbone 保留适用的原配置，这是一组 benchmark，不是每一项都属于单因素消融。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C:/Users/User/Desktop/HERA/README.md</a:t>
            </a:r>
          </a:p>
          <a:p xmlns:a="http://schemas.openxmlformats.org/drawingml/2006/main">
            <a:r>
              <a:t>C:/Users/User/Desktop/HERA/main.py</a:t>
            </a:r>
          </a:p>
          <a:p xmlns:a="http://schemas.openxmlformats.org/drawingml/2006/main">
            <a:r>
              <a:t>C:/Users/User/Desktop/HERA/predict_2dmd_low_checkpoints.py</a:t>
            </a:r>
          </a:p>
          <a:p xmlns:a="http://schemas.openxmlformats.org/drawingml/2006/main">
            <a:r>
              <a:t>C:/Users/User/Desktop/HERA/tests/test_predict_2dmd_low_checkpoints.py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收束到三个结论。第一，共享消息主体、关系 adapter 和能量均值读出形成了目前更强的 hetero 基线，尤其是 mixed-low 的 MoS₂，但单材料 WSe₂ 仍未超过 sparse 和 attention。第二，主要剩余问题是高浓度正偏差，不能只追求更低的 low 验证误差。第三，超图更新没有显示额外收益，应先完成可追溯的全模型 benchmark，再做跨关系 attention 和距离缺陷残差的独立实验，用多 seed 判断提升是否稳定。这里不承诺任何一个结构一定超过 attention。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  <a:p xmlns:a="http://schemas.openxmlformats.org/drawingml/2006/main">
            <a:r>
              <a:t>C:/Users/User/Desktop/HERA/docs/hetero_interaction_ablation.md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默认配置是 hidden64、3 个 attention ALIGNN block 加 3 个 GCN block，后接类型和全局上下文条件的 attention 读出。局部消息同时看源、目标和边特征，并有 sigmoid gate；注意力打分再额外看两个端点类型。四个 head 分别对邻居归一化，最后平均权重乘同一条消息，不是标准 Transformer 把四套 value 拼接。全局 score 同时看 h_i、类型 embedding 和全图平均上下文。共享参数和邻居竞争是值得借鉴的机制，但不能从性能排名证明它们就是泛化提升原因，也不能把注意力权重当作因果重要性。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用户之前关心 adapter 和 DefiNet 是否一样。两者都利用类型信息，但参数化不同。adapter 是每层、每关系一套根据源目标边状态计算的低秩修正，同时改变 gate 和 value；DefiNet-style scalar 门控根据标记对和距离调制共享消息，不等同四个独立关系修正网络。前面还实现过 pair_message 与 shared_distance 选项。当前带正式结果的基线没有同时开启这些选项，也没有启用下一轮的 cross_relation_attention 或 sparse_residual，因此报告不能把它们写成已有性能来源。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C:/Users/User/Desktop/HERA/docs/hetero_message_distance_ablation.md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这页用于追溯常见的数字混淆。0.002633 是 mixed-low 模型的 low 域内 test，不是 high；0.052567 是另一个用 high 训练的模型做 high 域内测试，不是 low-to-high。0.045536 和 0.059055 才来自同一份 mixed-low checkpoint 的两个外部 high 子集。shared hetero 的全程 LayerNorm、r0、rank8 和 energy mean 由 checkpoint config 核对。混合低浓度 checkpoint SHA256 为 aaf4995019b6dbe70d4da0c5aa65ff9eefead9f37e49f4b64c7cc1a048548a49。本次外部评估为 FP32、batch1、RTX5060Ti，500 条唯一 ID 和原始 high 标签已匹配。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C:/Users/User/Desktop/HERA/logs/hetero_energy_mean_benchmark/alignn/2dmd_high/hetero/r0/features_layernorm/pool_defect_energy_mean/relations_shared_residual_rank8/seed123_history.csv</a:t>
            </a:r>
          </a:p>
          <a:p xmlns:a="http://schemas.openxmlformats.org/drawingml/2006/main">
            <a:r>
              <a:t>C:/Users/User/Desktop/HERA/logs/hetero_energy_mean_benchmark/alignn/2dmd_wse2/hetero/r0/features_layernorm/pool_defect_energy_mean/relations_shared_residual_rank8/seed123_history.csv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47172e509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ff03f348b647de" /><Relationship Type="http://schemas.openxmlformats.org/officeDocument/2006/relationships/slideLayout" Target="/ppt/slideLayouts/slideLayout1.xml" Id="R2252fc5ee42e43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52fc5ee42e43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e4aa14bc74a63" /><Relationship Type="http://schemas.openxmlformats.org/officeDocument/2006/relationships/image" Target="/ppt/media/image.png" Id="Ra633c8e317814360" /><Relationship Type="http://schemas.openxmlformats.org/officeDocument/2006/relationships/notesSlide" Target="/ppt/notesSlides/notesSlide1.xml" Id="Rb229a797c5ee47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1cb523707407c" /><Relationship Type="http://schemas.openxmlformats.org/officeDocument/2006/relationships/image" Target="/ppt/media/image2.png" Id="R07c20e08e3644017" /><Relationship Type="http://schemas.openxmlformats.org/officeDocument/2006/relationships/notesSlide" Target="/ppt/notesSlides/notesSlide2.xml" Id="Racbde664035b43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a1fe4865a4b15" /><Relationship Type="http://schemas.openxmlformats.org/officeDocument/2006/relationships/image" Target="/ppt/media/image3.png" Id="R57b4f1f4120945f8" /><Relationship Type="http://schemas.openxmlformats.org/officeDocument/2006/relationships/notesSlide" Target="/ppt/notesSlides/notesSlide3.xml" Id="Ra3d18fa59b6d4f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2252a724c49b6" /><Relationship Type="http://schemas.openxmlformats.org/officeDocument/2006/relationships/image" Target="/ppt/media/image4.png" Id="R235f987e966c4353" /><Relationship Type="http://schemas.openxmlformats.org/officeDocument/2006/relationships/notesSlide" Target="/ppt/notesSlides/notesSlide4.xml" Id="R1a6aafd83f1648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cd0362db74722" /><Relationship Type="http://schemas.openxmlformats.org/officeDocument/2006/relationships/image" Target="/ppt/media/image5.png" Id="R0a46f2afa5c949b9" /><Relationship Type="http://schemas.openxmlformats.org/officeDocument/2006/relationships/notesSlide" Target="/ppt/notesSlides/notesSlide5.xml" Id="R2357e03e1dc147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e5f4584ee43c6" /><Relationship Type="http://schemas.openxmlformats.org/officeDocument/2006/relationships/image" Target="/ppt/media/image6.png" Id="R872265293bce4892" /><Relationship Type="http://schemas.openxmlformats.org/officeDocument/2006/relationships/notesSlide" Target="/ppt/notesSlides/notesSlide6.xml" Id="Rb8fbaf8cff26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74a1a6eab4dfa" /><Relationship Type="http://schemas.openxmlformats.org/officeDocument/2006/relationships/image" Target="/ppt/media/image7.png" Id="R7ee4f117cee94db0" /><Relationship Type="http://schemas.openxmlformats.org/officeDocument/2006/relationships/notesSlide" Target="/ppt/notesSlides/notesSlide7.xml" Id="Rc4108798f5b848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7eb8e054a4d39" /><Relationship Type="http://schemas.openxmlformats.org/officeDocument/2006/relationships/image" Target="/ppt/media/image8.png" Id="R2e5110bd4ab24df9" /><Relationship Type="http://schemas.openxmlformats.org/officeDocument/2006/relationships/chart" Target="/ppt/slides/charts/chart1.xml" Id="Rf2f159e1915c4dad" /><Relationship Type="http://schemas.openxmlformats.org/officeDocument/2006/relationships/notesSlide" Target="/ppt/notesSlides/notesSlide8.xml" Id="R6d3f5868efa042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d2212b2ca4c61" /><Relationship Type="http://schemas.openxmlformats.org/officeDocument/2006/relationships/image" Target="/ppt/media/image9.png" Id="R71268f8a70414e8c" /><Relationship Type="http://schemas.openxmlformats.org/officeDocument/2006/relationships/chart" Target="/ppt/slides/charts/chart2.xml" Id="R67ee85728e794c7e" /><Relationship Type="http://schemas.openxmlformats.org/officeDocument/2006/relationships/chart" Target="/ppt/slides/charts/chart3.xml" Id="Rff722468f9d8435b" /><Relationship Type="http://schemas.openxmlformats.org/officeDocument/2006/relationships/notesSlide" Target="/ppt/notesSlides/notesSlide9.xml" Id="R5ddd1b6ac2a242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fd4e4df2443bd" /><Relationship Type="http://schemas.openxmlformats.org/officeDocument/2006/relationships/image" Target="/ppt/media/image10.png" Id="Rd7607e93f946449a" /><Relationship Type="http://schemas.openxmlformats.org/officeDocument/2006/relationships/notesSlide" Target="/ppt/notesSlides/notesSlide10.xml" Id="Rb83ab3ae4c514b0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c468548a84553" /><Relationship Type="http://schemas.openxmlformats.org/officeDocument/2006/relationships/image" Target="/ppt/media/image11.png" Id="R27fde83e580e4972" /><Relationship Type="http://schemas.openxmlformats.org/officeDocument/2006/relationships/chart" Target="/ppt/slides/charts/chart4.xml" Id="R3b270b078e50404a" /><Relationship Type="http://schemas.openxmlformats.org/officeDocument/2006/relationships/notesSlide" Target="/ppt/notesSlides/notesSlide11.xml" Id="R29fc4679414646d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d6fffa8b4c2a" /><Relationship Type="http://schemas.openxmlformats.org/officeDocument/2006/relationships/image" Target="/ppt/media/image12.png" Id="R842475b8f8284f45" /><Relationship Type="http://schemas.openxmlformats.org/officeDocument/2006/relationships/notesSlide" Target="/ppt/notesSlides/notesSlide12.xml" Id="R0a6470998f8f46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a9eaa0eb448d4" /><Relationship Type="http://schemas.openxmlformats.org/officeDocument/2006/relationships/image" Target="/ppt/media/image13.png" Id="R4ab560c898874daa" /><Relationship Type="http://schemas.openxmlformats.org/officeDocument/2006/relationships/chart" Target="/ppt/slides/charts/chart5.xml" Id="R7a98743120f94232" /><Relationship Type="http://schemas.openxmlformats.org/officeDocument/2006/relationships/notesSlide" Target="/ppt/notesSlides/notesSlide13.xml" Id="R990c1932931c41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43b5988e54a00" /><Relationship Type="http://schemas.openxmlformats.org/officeDocument/2006/relationships/image" Target="/ppt/media/image14.png" Id="Rbca39734efa240bb" /><Relationship Type="http://schemas.openxmlformats.org/officeDocument/2006/relationships/notesSlide" Target="/ppt/notesSlides/notesSlide14.xml" Id="R34d4e89842104ef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84d301c404974" /><Relationship Type="http://schemas.openxmlformats.org/officeDocument/2006/relationships/image" Target="/ppt/media/image15.png" Id="R552b7bbf2e38462e" /><Relationship Type="http://schemas.openxmlformats.org/officeDocument/2006/relationships/notesSlide" Target="/ppt/notesSlides/notesSlide15.xml" Id="Rc1ea1d2aced04b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9ce70b26649d8" /><Relationship Type="http://schemas.openxmlformats.org/officeDocument/2006/relationships/image" Target="/ppt/media/image16.png" Id="Rac20dbff1151494b" /><Relationship Type="http://schemas.openxmlformats.org/officeDocument/2006/relationships/notesSlide" Target="/ppt/notesSlides/notesSlide16.xml" Id="Rd2ce1aaa45fc40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2527f734f4731" /><Relationship Type="http://schemas.openxmlformats.org/officeDocument/2006/relationships/image" Target="/ppt/media/image17.png" Id="R883cbfed4f464673" /><Relationship Type="http://schemas.openxmlformats.org/officeDocument/2006/relationships/notesSlide" Target="/ppt/notesSlides/notesSlide17.xml" Id="R142a7de96e7e4d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b9633608eb4e67" /><Relationship Type="http://schemas.openxmlformats.org/officeDocument/2006/relationships/image" Target="/ppt/media/image18.png" Id="R56f99fac55bc48df" /><Relationship Type="http://schemas.openxmlformats.org/officeDocument/2006/relationships/notesSlide" Target="/ppt/notesSlides/notesSlide18.xml" Id="Re1f742d2a5334f5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dcb10d024e09" /><Relationship Type="http://schemas.openxmlformats.org/officeDocument/2006/relationships/image" Target="/ppt/media/image19.png" Id="R5bca2968b5a44b86" /><Relationship Type="http://schemas.openxmlformats.org/officeDocument/2006/relationships/notesSlide" Target="/ppt/notesSlides/notesSlide19.xml" Id="R5793ccae1dcf48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98e7476ee4c0d" /><Relationship Type="http://schemas.openxmlformats.org/officeDocument/2006/relationships/image" Target="/ppt/media/image20.png" Id="R65a37723decc4541" /><Relationship Type="http://schemas.openxmlformats.org/officeDocument/2006/relationships/notesSlide" Target="/ppt/notesSlides/notesSlide20.xml" Id="R4bbc105eff104da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Sparse, historical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136.365293</c:v>
                </c:pt>
                <c:pt idx="1">
                  <c:v>113.740639</c:v>
                </c:pt>
              </c:numCache>
            </c:numRef>
          </c:val>
        </c:ser>
        <c:ser>
          <c:idx val="1"/>
          <c:order val="1"/>
          <c:tx>
            <c:v>Attention, historical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cat>
            <c:strRef>
              <c:f>'Chart Data'!$C$2:$C$3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Data'!$D$2:$D$3</c:f>
              <c:numCache>
                <c:formatCode>0.0</c:formatCode>
                <c:ptCount val="2"/>
                <c:pt idx="0">
                  <c:v>96.656766</c:v>
                </c:pt>
                <c:pt idx="1">
                  <c:v>106.536773</c:v>
                </c:pt>
              </c:numCache>
            </c:numRef>
          </c:val>
        </c:ser>
        <c:ser>
          <c:idx val="2"/>
          <c:order val="2"/>
          <c:tx>
            <c:v>Hetero, historical</c:v>
          </c:tx>
          <c:spPr>
            <a:solidFill xmlns:a="http://schemas.openxmlformats.org/drawingml/2006/main">
              <a:srgbClr val="247D73"/>
            </a:solidFill>
            <a:ln xmlns:a="http://schemas.openxmlformats.org/drawingml/2006/main" w="0">
              <a:solidFill>
                <a:srgbClr val="247D73"/>
              </a:solidFill>
            </a:ln>
          </c:spPr>
          <c:cat>
            <c:strRef>
              <c:f>'Chart Data'!$E$2:$E$3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Data'!$F$2:$F$3</c:f>
              <c:numCache>
                <c:formatCode>0.0</c:formatCode>
                <c:ptCount val="2"/>
                <c:pt idx="0">
                  <c:v>179.638298</c:v>
                </c:pt>
                <c:pt idx="1">
                  <c:v>59.772125</c:v>
                </c:pt>
              </c:numCache>
            </c:numRef>
          </c:val>
        </c:ser>
        <c:ser>
          <c:idx val="3"/>
          <c:order val="3"/>
          <c:tx>
            <c:v>Shared hetero, current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Data'!$G$2:$G$3</c:f>
              <c:strCache>
                <c:ptCount val="2"/>
                <c:pt idx="0">
                  <c:v>MoS₂ high</c:v>
                </c:pt>
                <c:pt idx="1">
                  <c:v>WSe₂ high</c:v>
                </c:pt>
              </c:strCache>
            </c:strRef>
          </c:cat>
          <c:val>
            <c:numRef>
              <c:f>'Chart Data'!$H$2:$H$3</c:f>
              <c:numCache>
                <c:formatCode>0.0</c:formatCode>
                <c:ptCount val="2"/>
                <c:pt idx="0">
                  <c:v>45.535612</c:v>
                </c:pt>
                <c:pt idx="1">
                  <c:v>59.054647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17.644331</c:v>
                </c:pt>
                <c:pt idx="1">
                  <c:v>26.716467</c:v>
                </c:pt>
                <c:pt idx="2">
                  <c:v>37.911252</c:v>
                </c:pt>
                <c:pt idx="3">
                  <c:v>59.930624</c:v>
                </c:pt>
                <c:pt idx="4">
                  <c:v>85.475386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9.073818</c:v>
                </c:pt>
                <c:pt idx="1">
                  <c:v>27.520038</c:v>
                </c:pt>
                <c:pt idx="2">
                  <c:v>56.660447</c:v>
                </c:pt>
                <c:pt idx="3">
                  <c:v>80.830925</c:v>
                </c:pt>
                <c:pt idx="4">
                  <c:v>121.18801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-15.76104</c:v>
                </c:pt>
                <c:pt idx="1">
                  <c:v>16.00789</c:v>
                </c:pt>
                <c:pt idx="2">
                  <c:v>27.793868</c:v>
                </c:pt>
                <c:pt idx="3">
                  <c:v>56.136383</c:v>
                </c:pt>
                <c:pt idx="4">
                  <c:v>83.554572</c:v>
                </c:pt>
              </c:numCache>
            </c:numRef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4</c:v>
                </c:pt>
                <c:pt idx="1">
                  <c:v>9</c:v>
                </c:pt>
                <c:pt idx="2">
                  <c:v>14</c:v>
                </c:pt>
                <c:pt idx="3">
                  <c:v>19</c:v>
                </c:pt>
                <c:pt idx="4">
                  <c:v>24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4.515221</c:v>
                </c:pt>
                <c:pt idx="1">
                  <c:v>1.061594</c:v>
                </c:pt>
                <c:pt idx="2">
                  <c:v>43.525363</c:v>
                </c:pt>
                <c:pt idx="3">
                  <c:v>71.585794</c:v>
                </c:pt>
                <c:pt idx="4">
                  <c:v>116.616167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-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Mean bias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Mixed low training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Ref>
              <c:f>'Chart Data'!$A$2:$A$4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113.740639</c:v>
                </c:pt>
                <c:pt idx="1">
                  <c:v>106.536773</c:v>
                </c:pt>
                <c:pt idx="2">
                  <c:v>59.054647</c:v>
                </c:pt>
              </c:numCache>
            </c:numRef>
          </c:val>
        </c:ser>
        <c:ser>
          <c:idx val="1"/>
          <c:order val="1"/>
          <c:tx>
            <c:v>WSe₂-only low training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Ref>
              <c:f>'Chart Data'!$C$2:$C$4</c:f>
              <c:strCache>
                <c:ptCount val="3"/>
                <c:pt idx="0">
                  <c:v>Sparse</c:v>
                </c:pt>
                <c:pt idx="1">
                  <c:v>Attention</c:v>
                </c:pt>
                <c:pt idx="2">
                  <c:v>Shared hetero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36.966638</c:v>
                </c:pt>
                <c:pt idx="1">
                  <c:v>46.232918</c:v>
                </c:pt>
                <c:pt idx="2">
                  <c:v>52.188476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 test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rgbClr val="A32638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No hypergraph update</c:v>
                </c:pt>
                <c:pt idx="1">
                  <c:v>Local only</c:v>
                </c:pt>
                <c:pt idx="2">
                  <c:v>Local + global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61.940717</c:v>
                </c:pt>
                <c:pt idx="1">
                  <c:v>75.823139</c:v>
                </c:pt>
                <c:pt idx="2">
                  <c:v>68.386025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3c8e317814360"/>
          <a:stretch xmlns:a="http://schemas.openxmlformats.org/drawingml/2006/main"/>
        </p:blipFill>
        <p:spPr>
          <a:xfrm xmlns:a="http://schemas.openxmlformats.org/drawingml/2006/main">
            <a:off x="333375" y="336826"/>
            <a:ext cx="3095625" cy="5931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278-1F6C-411E-B5DF-976DFA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Hetero GNNs for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0C1C-87A5-4737-ABBD-292C668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Low-to-high generalization in 2DMD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5F3FB-8B5D-49E6-995A-7EDA75E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WU 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E12F-A136-489F-851E-E05C4F8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Group meeting    2026/9/15</a:t>
            </a:r>
          </a:p>
        </p:txBody>
      </p:sp>
    </p:spTree>
    <p:extLst>
      <p:ext uri="{BB962C8B-B14F-4D97-AF65-F5344CB8AC3E}">
        <p14:creationId xmlns:p14="http://schemas.microsoft.com/office/powerpoint/2010/main" val="304737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20e08e3644017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920DC-4952-4969-BA80-7276E5F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Recent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FC3F-5484-46EE-B397-3995DAC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results use seed 123. Historical comparisons do not isolate individual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F660-A230-4E22-9B4D-9894D90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8570-C05B-484C-8A85-A11D999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improves the mixed-low result on MoS₂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8F8D-D5F9-45A5-9B42-DF986FD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High-test MAE: 0.04554 eV/defect on MoS₂ and 0.05905 on WSe₂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6EDB-023D-40FC-BAFB-CD520EA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Energy mean readout matches the graph-level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08BC-609D-4604-B39A-C781983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Predict a scalar from each defect representation, then average over defects.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0DF6-44B9-4A3A-B77A-DD5AAEC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bias remains the main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4EF4-5E70-4A9E-B01D-E6A7CD9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 have not improved the current matched baseline.</a:t>
            </a:r>
          </a:p>
        </p:txBody>
      </p:sp>
    </p:spTree>
    <p:extLst>
      <p:ext uri="{BB962C8B-B14F-4D97-AF65-F5344CB8AC3E}">
        <p14:creationId xmlns:p14="http://schemas.microsoft.com/office/powerpoint/2010/main" val="203539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4f1f4120945f8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334D-D0BA-4AA3-A8B3-D42210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2DMD data and prediction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31C28-9BEE-499E-B2CD-D5DDA0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Counts below describe each raw MoS₂/WSe₂ material subset. Mixed-low preprocessing retains 11,864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1E20-9D66-4239-A322-264029A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7BF0-8CB7-48E2-8DE1-D97A3B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Target:  y = Eformation / Ndefects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19075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defect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5,802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5,933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381625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 9, 14, 19, 24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at each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CF6-6A65-41F7-9106-BC7EE36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97.8% of low structures have exactly 3 defects.</a:t>
            </a:r>
          </a:p>
        </p:txBody>
      </p:sp>
    </p:spTree>
    <p:extLst>
      <p:ext uri="{BB962C8B-B14F-4D97-AF65-F5344CB8AC3E}">
        <p14:creationId xmlns:p14="http://schemas.microsoft.com/office/powerpoint/2010/main" val="12488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5f987e966c435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1501-1AAB-4ACB-BAB9-E6F1682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Evaluation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76AD-5BCB-4242-A049-35DAE6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Checkpoint selection and learning-rate scheduling use validation data from the training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E3E-D267-49C4-8E79-CAF842C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2395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333875"/>
                <a:gridCol w="38576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validation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set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MoS₂ + WSe₂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7,118 /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low: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Six-material high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1,800 /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high: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material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4,746 / 1,187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material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 checkpoint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low split as above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high: 500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4B23-26EF-443A-B8FF-E0C715D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Low-domain MAE and low-to-high MAE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9444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6f2afa5c949b9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A658-1FBB-4E1F-8E28-6CABAA4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Models compared in the current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77F-A8FC-4580-B269-563935E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Architectures below refer to the HERA implementations. These comparisons change more than pooling.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5AE1-1655-4696-8A32-493E5F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905375"/>
                <a:gridCol w="3476625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/ messages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Defect-only graph, 12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+ original species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in message/state blocks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 + edge Set2Set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global state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Atom/bond-angle graph, 6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Type-aware neighbor attention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message network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 and context-aware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ALIGNN hetero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directed relation types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message core per layer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relation adapters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of per-defect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predictions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ALIGNN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and distance gates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branch implemented in HERA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over all nodes,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then MLP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265293bce489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DDF9-5461-4129-8EFD-86F3D9E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hetero: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9303-CDC4-41C0-BE14-2B939B8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1912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Each layer has its own weights. Superscript r denotes relation-specific weights.</a:t>
            </a:r>
          </a:p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Edge indices and affine biases are omitted. Relation-wise aggregation is unchanged.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D294-1210-4FFB-8808-3A29312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C21F-FE36-4FC1-8A0F-95DFBD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1109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 ∈ {pristine–pristine, defect–defect, pristine–defect, defect–pristine}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6A2D-A848-42C1-8CA1-7B5B19D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[δzᵣ, δvᵣ] = σ(aᵣ) Bᵣ SiLU(Aᵣ [hⱼ, hᵢ, 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033C-7722-4757-BBFF-E85A097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zᵣ = Wₛʳhⱼ + Wₜʳhᵢ + Wₑʳeᵢⱼ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4E7-2533-4A38-A1DC-6B4756A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W: shared across relations. Aᵣ, Bᵣ, aᵣ: relation-specific. Bottleneck = 8.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71500" y="4848225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333750"/>
                <a:gridCol w="4381500"/>
              </a:tblGrid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916,289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614,465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679,193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E62DF-0F85-410C-B319-98F81B583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independent cores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B97D96-DFC5-4B7B-9ACB-AF89116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286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shared core + adapters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72B84A-4C52-49F6-8DD3-55139675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z = Wₛhⱼ + Wₜhᵢ + Wₑeᵢⱼ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5BE3D-7E2B-4954-8BFA-B56DBEB7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05125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mᵣ = σ(zᵣ) ⊙ Wₘʳhⱼ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4C7514-DA1C-4829-B778-0B1AC22A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05125"/>
            <a:ext cx="528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mᵣ = σ(z + δzᵣ) ⊙ (Wₘhⱼ + δvᵣ)</a:t>
            </a:r>
          </a:p>
        </p:txBody>
      </p:sp>
    </p:spTree>
    <p:extLst>
      <p:ext uri="{BB962C8B-B14F-4D97-AF65-F5344CB8AC3E}">
        <p14:creationId xmlns:p14="http://schemas.microsoft.com/office/powerpoint/2010/main" val="227120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e4f117cee94db0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DFA3F-0798-4997-A823-C8C13D1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Defect readout: previous and current formulas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FE51-07C7-4C87-B08E-3DC9C0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Readout is a separate change from relation sharing. Individual scalar contributions have no per-defect labels.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4007-E87E-49AE-815F-BA9444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A71FF-068C-4A07-9C3C-EEDC7FA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Previous: defect_mean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9ABC-C932-43F1-9F4F-A2FA9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ŷ = g((Σᵢ hᵢ) / 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DB9-D67F-4D59-86B8-B2BCDE3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143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Average defect representations,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apply the nonlinear head 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140F1-4A08-471A-8312-71DBED7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049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Current: defect_energy_mean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208D-CB9D-4446-87E8-60EED3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276475"/>
            <a:ext cx="5286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(Σᵢ g(hᵢ)) /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8DAB-6CC8-42F3-BEDF-A989649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209925"/>
            <a:ext cx="5286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Apply the same head g to each defect,</a:t>
            </a:r>
          </a:p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average the scalar predictions.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9DBA-7EF8-49A0-B57C-5A4143D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38650"/>
            <a:ext cx="11001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i ∈ D, where D contains actual defects and N = |D|.</a:t>
            </a:r>
          </a:p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Same MLP: 64 – 64 – 32 – 1. Same graph-level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AF-3FB7-48E0-917B-B0F4C43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100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For nonlinear g, averaging and prediction generally do not commute.</a:t>
            </a:r>
          </a:p>
        </p:txBody>
      </p:sp>
    </p:spTree>
    <p:extLst>
      <p:ext uri="{BB962C8B-B14F-4D97-AF65-F5344CB8AC3E}">
        <p14:creationId xmlns:p14="http://schemas.microsoft.com/office/powerpoint/2010/main" val="81460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110bd4ab24df9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CD4B-F72D-4057-9BFE-2ECFF0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training: high-test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C5155-5C28-4C15-A6E2-6E197C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500 test IDs and targets per material. Historical baselines use earlier training versions /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DDBB-3E27-4F1B-99AC-C7B8644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f159e1915c4da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AC3E-B39B-4AAB-8BD3-015FDB8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model: MoS₂ 45.54 meV/defect, WSe₂ 59.05 meV/defect</a:t>
            </a:r>
          </a:p>
        </p:txBody>
      </p:sp>
    </p:spTree>
    <p:extLst>
      <p:ext uri="{BB962C8B-B14F-4D97-AF65-F5344CB8AC3E}">
        <p14:creationId xmlns:p14="http://schemas.microsoft.com/office/powerpoint/2010/main" val="206927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68f8a70414e8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1485-603E-46BD-BD56-247396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Error grows with defect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F73-9A0B-47D4-873F-5269B6A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mixed-low shared hetero. Each point contains 100 high-density structures per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3AB3-93BC-4C86-A2E9-5628FB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38100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7ee85728e794c7e"/>
          </a:graphicData>
        </a:graphic>
      </p:graphicFrame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19125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722468f9d8435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C8A-B9E6-4B6E-9E44-4022949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At 24 defects, mean bias is +83.6 meV on MoS₂ and +116.6 meV on WSe₂.</a:t>
            </a:r>
          </a:p>
        </p:txBody>
      </p:sp>
    </p:spTree>
    <p:extLst>
      <p:ext uri="{BB962C8B-B14F-4D97-AF65-F5344CB8AC3E}">
        <p14:creationId xmlns:p14="http://schemas.microsoft.com/office/powerpoint/2010/main" val="1845850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07e93f946449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943-5E75-40BC-853C-5B23B11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Single-material rankings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36-4A07-4EBE-8A0D-18D4607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High-test MAE, eV/defect. Seed 123. *MoS₂ shared hetero: supplied history, checkpoint not verified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26AF-81DA-47DA-9FA5-C59DE7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8E6F8-1066-44F3-9678-F31248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Each model trains on the low subset of its test material.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11239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3619500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0.036967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0.046233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hetero + energy mean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0.036838*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FA5AA-CEAF-4D89-887A-CA0C2AE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MoS₂: shared hetero has the lowest reported error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47BF-CAD1-443A-812A-FB8C49D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WSe₂: sparse and attention remain better than the current hetero.</a:t>
            </a:r>
          </a:p>
        </p:txBody>
      </p:sp>
    </p:spTree>
    <p:extLst>
      <p:ext uri="{BB962C8B-B14F-4D97-AF65-F5344CB8AC3E}">
        <p14:creationId xmlns:p14="http://schemas.microsoft.com/office/powerpoint/2010/main" val="146423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de83e580e497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EC9C-E06D-49A2-8F55-229423F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 and single-material training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1A47-2130-4AB7-BD73-6EBF1E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WSe₂ high test set. Training composition and the number of WSe₂ training examples both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03CE-79CD-42F1-A9F3-27E3F4E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23875" y="153352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270b078e50404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883C-3690-4F59-9683-6FE8A7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 training samples: 3,588 in mixed low versus 4,746 in WSe₂-only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92D9-AF6E-4C04-9400-397043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Material interference is a hypothesis. Historical model versions also differ.</a:t>
            </a:r>
          </a:p>
        </p:txBody>
      </p:sp>
    </p:spTree>
    <p:extLst>
      <p:ext uri="{BB962C8B-B14F-4D97-AF65-F5344CB8AC3E}">
        <p14:creationId xmlns:p14="http://schemas.microsoft.com/office/powerpoint/2010/main" val="5687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475b8f8284f45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19B7E-C5C0-408C-AC86-85FE01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results depend on the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1C59-1F18-4DFC-A14A-6FAABCD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MoS₂ low-to-high, seed 123. Different rows change readout and sometimes other architecture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08D45-179F-4B54-ACAA-4C3328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43375"/>
                <a:gridCol w="4381500"/>
                <a:gridCol w="2714625"/>
              </a:tblGrid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 (eV/defect)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attention reference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Earlier hierarchical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0.168732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earlier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Hierarchical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0.250031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later run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 mean, local + global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0.068386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AD7C-782D-49CF-B591-454857B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The 0.25 and 0.068 results belong to different trained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EAB-6B10-43C4-9706-CBCECAE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better readout does not establish a benefit from hypergraph messages.</a:t>
            </a:r>
          </a:p>
        </p:txBody>
      </p:sp>
    </p:spTree>
    <p:extLst>
      <p:ext uri="{BB962C8B-B14F-4D97-AF65-F5344CB8AC3E}">
        <p14:creationId xmlns:p14="http://schemas.microsoft.com/office/powerpoint/2010/main" val="318253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560c898874da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AD29-1729-4E6F-B940-BC45820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updates: matched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FC6E-F775-4BA5-9F1E-60629F7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MAEs: meV/defect. Fixed v3, defect mean, seed 123. “None” retains the HyperALIGNN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64C6-1C8F-464D-86C2-4AA06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a98743120f94232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934325" y="2066925"/>
          <a:ext xmlns:a="http://schemas.openxmlformats.org/drawingml/2006/main" cx="3733800" cy="2409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1828800"/>
              </a:tblGrid>
              <a:tr h="6024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+ global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2.239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B603-08B5-4D81-987C-CEC08B1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Neither enabled update improves on “none” in this run.</a:t>
            </a:r>
          </a:p>
        </p:txBody>
      </p:sp>
    </p:spTree>
    <p:extLst>
      <p:ext uri="{BB962C8B-B14F-4D97-AF65-F5344CB8AC3E}">
        <p14:creationId xmlns:p14="http://schemas.microsoft.com/office/powerpoint/2010/main" val="926240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39734efa240bb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305-8FF2-4595-BF88-92BFD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Reproducibility and training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9D81-F5BA-4082-B1D5-D9DF114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MAE: eV/defect. Short-run numerical differences do not explain the full historical accuracy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3F4-A8B6-45E4-BB88-AC25BDC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238500"/>
                <a:gridCol w="3238500"/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sparse run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saved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0.002972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supplied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0.002466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0.192789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93CBF-4DEE-4DE0-9506-5A12B66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low-domain validation error accompanied worse high-domain error.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76250" y="4333875"/>
          <a:ext xmlns:a="http://schemas.openxmlformats.org/drawingml/2006/main" cx="1123950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810250"/>
              </a:tblGrid>
              <a:tr h="421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Independent-process audit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checkpoint inference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across repeat GPU runs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GPU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First gradient differs by up to 7.45 × 10⁻⁹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CPU, 1 thread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repeat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55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2b7bbf2e38462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5EBD4-4D66-4962-95AB-E7C046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Next controlled hetero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2D7-C87C-49FF-99AF-10642A8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Implemented options. Full low-to-high accuracy results are not yet available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3E2F-1552-4EAC-BB4E-8401B19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381500"/>
                <a:gridCol w="4048125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intended change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tested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baseline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mean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result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Cross-relation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Normalize gate logits across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incoming relations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relation-wise normalization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lose useful competition?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Sparse residual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12 Å defect–defect messages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RBF + ordinary mean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Zero-initialized output projection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direct defect geometry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at higher density?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9BDC-B9E8-4BCC-852B-917B1A8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Compare each change separately with the same split and initialization.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D95D-BB09-460C-9E20-71FE481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zero initial residual matches the baseline initially, but gives no accuracy guarantee.</a:t>
            </a:r>
          </a:p>
        </p:txBody>
      </p:sp>
    </p:spTree>
    <p:extLst>
      <p:ext uri="{BB962C8B-B14F-4D97-AF65-F5344CB8AC3E}">
        <p14:creationId xmlns:p14="http://schemas.microsoft.com/office/powerpoint/2010/main" val="1034639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0dbff1151494b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54F2-E7EB-4940-BBFE-8D27EF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Full benchmark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5A0B-9ECD-44F9-BD93-7399A6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Prepared command and inference support. The complete benchmark has no new local result table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2E7E-3BFB-4D0D-BE8E-96ECBE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33525"/>
          <a:ext xmlns:a="http://schemas.openxmlformats.org/drawingml/2006/main" cx="112395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  <a:gridCol w="4000500"/>
              </a:tblGrid>
              <a:tr h="8882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Domain benchmarks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CGCNN, MEGNet, ALIGNN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supported modes on low and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modes × 2 datasets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 training runs at seed 123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 Low-to-high evaluation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Load only 2dmd_low checkpoints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 MoS₂ and WSe₂ separately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models × 2 materials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Per-model predictions and MAE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Stability follow-up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 selected comparisons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multiple fixed seeds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± standard deviation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and bias by defect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CACA-AB22-49C5-A6B7-19E4B1B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Freeze the protocol before interpreting the final model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67B-CF25-4A1D-8C85-4AF3D2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“All” includes supported WAS variants. Duplicate hetero fixed-pool r=0 is skipped.</a:t>
            </a:r>
          </a:p>
        </p:txBody>
      </p:sp>
    </p:spTree>
    <p:extLst>
      <p:ext uri="{BB962C8B-B14F-4D97-AF65-F5344CB8AC3E}">
        <p14:creationId xmlns:p14="http://schemas.microsoft.com/office/powerpoint/2010/main" val="1879944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cbfed4f46467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00E8-C89B-436B-AB3B-2D76B7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Conclusions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8F0-9058-4E75-BA19-AA15B9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conclusions are limited to the available configurations and seed-123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018E-E380-43D6-9E76-4B2311F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FC3B8-0942-4379-AD08-82AA155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is a stronger 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FBD-F2C9-4CAE-9EB5-C0C4197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high MAE: MoS₂ 0.04554, WSe₂ 0.05905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88FC-BF6C-45D7-953B-4E23404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generalization remains unresolved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D2F0-16F6-43CC-A13F-6E2A0EA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residual error increasingly reflects positive bias as defect count rises.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5984-8A5A-4284-A693-0B3C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next decision needs matched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A946-8D3D-47E7-A729-6B8A5A9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Finish the all-model benchmark, then compare relation attention and</a:t>
            </a:r>
          </a:p>
          <a:p xmlns:a="http://schemas.openxmlformats.org/drawingml/2006/main">
            <a:pPr>
              <a:buNone/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distance-based defect residuals with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1080227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99fac55bc48df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833-8238-406A-8720-D2ADEB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attention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727D-B11A-43A2-B3A0-2DC0948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Mechanistic interpretation below is a hypothesis about generalization, not a controlled causal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A6E-DF25-4D7A-99EB-10400F4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FA4D-6189-4CC2-B160-7D80A7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Local message and neighbor weighting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376C-026F-41FA-9E5A-22E4D3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uᵢⱼ = sigmoid(G[hᵢ,hⱼ,eᵢⱼ]) ⊙ MLP([hᵢ,hⱼ,eᵢⱼ])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0FE01-5C27-4A89-921B-03FB70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αᵢⱼ = mean of 4 head-wise neighbor softmax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75D3-A14D-4B63-B406-55815AE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Global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1469-9FCF-43F2-B680-76F590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βᵢ = softmaxᵢ(score[hᵢ, typeᵢ, meanⱼ hⱼ])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1D6-93A3-4D36-971E-582F5A2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MLP(Σᵢ βᵢ hᵢ)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9C23-7E04-4C59-8E7E-1FD535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messages, neighbor competition and learned defect emphasis may help transfer.</a:t>
            </a:r>
          </a:p>
        </p:txBody>
      </p:sp>
    </p:spTree>
    <p:extLst>
      <p:ext uri="{BB962C8B-B14F-4D97-AF65-F5344CB8AC3E}">
        <p14:creationId xmlns:p14="http://schemas.microsoft.com/office/powerpoint/2010/main" val="371140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ca2968b5a44b8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0E31-277B-47C7-86C3-79B334F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adapters and DefiNet-style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2F8A-4336-4D38-9EDF-F05DCC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The current baseline uses a linear source-message projection plus relation adapters.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38DE-AD20-485D-8875-9DC21FA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857750"/>
                <a:gridCol w="333375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Hetero relation adapter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Source, destination and edge state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adapter per relation per layer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Corrects both gate logits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message values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gate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embedding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separate distance modulation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Reweights a shared message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without neighbor softmax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Pair-message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MLP([source, destination, edge])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Makes the shared value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explicitly pair-conditioned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Shared-distance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RBF encoder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zero-initialized relation offsets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independent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relation-distance encoders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837B-50E3-4280-9791-56FFC19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Pair-message and shared-distance options need separate performance tests.</a:t>
            </a:r>
          </a:p>
        </p:txBody>
      </p:sp>
    </p:spTree>
    <p:extLst>
      <p:ext uri="{BB962C8B-B14F-4D97-AF65-F5344CB8AC3E}">
        <p14:creationId xmlns:p14="http://schemas.microsoft.com/office/powerpoint/2010/main" val="1073986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37723decc4541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2C64-DB35-4077-99C6-E56472F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checkpoint and metric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3ECC-D9A1-4E2D-B3F5-8A066B9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 below use eV/defect. Paths, source tables and caveats are recorded in the speaker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B066-B473-48B0-B7F7-274A97F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543050"/>
          <a:ext xmlns:a="http://schemas.openxmlformats.org/drawingml/2006/main" cx="112395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619250"/>
                <a:gridCol w="247650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Saved model / evaluation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epoch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low, held-out low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0.002633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MoS₂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0.045536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0.059055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high-trained model, high-domain test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0.052567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WSe₂-low model,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2510-184B-4814-92B1-5298D7A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hetero: r=0, LayerNorm, rank 8, defect_energy_mean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13B0-D7EE-4A1B-BF7D-20BE206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checkpoint SHA-256 begins aaf4995019b6dbe7</a:t>
            </a:r>
          </a:p>
        </p:txBody>
      </p:sp>
    </p:spTree>
    <p:extLst>
      <p:ext uri="{BB962C8B-B14F-4D97-AF65-F5344CB8AC3E}">
        <p14:creationId xmlns:p14="http://schemas.microsoft.com/office/powerpoint/2010/main" val="1284248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2026-09-16T14:04:03.3720000Z</dcterms:created>
  <dcterms:modified xsi:type="dcterms:W3CDTF">2026-09-16T14:04:03.3720000Z</dcterms:modified>
</coreProperties>
</file>