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4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5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6fe4e713f874025" /><Relationship Type="http://schemas.openxmlformats.org/officeDocument/2006/relationships/extended-properties" Target="/docProps/app.xml" Id="R6c39d46f38754ac6" /><Relationship Type="http://schemas.openxmlformats.org/officeDocument/2006/relationships/officeDocument" Target="/ppt/presentation.xml" Id="Rb1df6052d89d420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638b8c1ac3e437f"/>
  </p:sldMasterIdLst>
  <p:notesMasterIdLst>
    <p:notesMasterId xmlns:r="http://schemas.openxmlformats.org/officeDocument/2006/relationships" r:id="R73224fd983af4518"/>
  </p:notesMasterIdLst>
  <p:sldIdLst>
    <p:sldId xmlns:r="http://schemas.openxmlformats.org/officeDocument/2006/relationships" id="256" r:id="R1f3ad25d12aa42c6"/>
    <p:sldId xmlns:r="http://schemas.openxmlformats.org/officeDocument/2006/relationships" id="257" r:id="Ra0a9e8f3b05e48c8"/>
    <p:sldId xmlns:r="http://schemas.openxmlformats.org/officeDocument/2006/relationships" id="258" r:id="Raa3cecac3425493c"/>
    <p:sldId xmlns:r="http://schemas.openxmlformats.org/officeDocument/2006/relationships" id="259" r:id="Rdab5345b4cd24a8b"/>
    <p:sldId xmlns:r="http://schemas.openxmlformats.org/officeDocument/2006/relationships" id="260" r:id="Rd701517b8c9246d0"/>
    <p:sldId xmlns:r="http://schemas.openxmlformats.org/officeDocument/2006/relationships" id="261" r:id="R9a06ff9014cb49e5"/>
    <p:sldId xmlns:r="http://schemas.openxmlformats.org/officeDocument/2006/relationships" id="262" r:id="R6fe5f2683f9f44f4"/>
    <p:sldId xmlns:r="http://schemas.openxmlformats.org/officeDocument/2006/relationships" id="263" r:id="R280eff520d924fd5"/>
    <p:sldId xmlns:r="http://schemas.openxmlformats.org/officeDocument/2006/relationships" id="264" r:id="R09f18204db4e4e19"/>
    <p:sldId xmlns:r="http://schemas.openxmlformats.org/officeDocument/2006/relationships" id="265" r:id="R6cd13941642e45b1"/>
    <p:sldId xmlns:r="http://schemas.openxmlformats.org/officeDocument/2006/relationships" id="266" r:id="Rc0c2019ec38e4535"/>
    <p:sldId xmlns:r="http://schemas.openxmlformats.org/officeDocument/2006/relationships" id="267" r:id="R1e9651c8d13d4324"/>
    <p:sldId xmlns:r="http://schemas.openxmlformats.org/officeDocument/2006/relationships" id="268" r:id="R9b111e04d62f4647"/>
    <p:sldId xmlns:r="http://schemas.openxmlformats.org/officeDocument/2006/relationships" id="269" r:id="R9d2f9ce6c16747a1"/>
    <p:sldId xmlns:r="http://schemas.openxmlformats.org/officeDocument/2006/relationships" id="270" r:id="R220cd0a23a7e41c7"/>
    <p:sldId xmlns:r="http://schemas.openxmlformats.org/officeDocument/2006/relationships" id="271" r:id="R89993a6a32b8455f"/>
    <p:sldId xmlns:r="http://schemas.openxmlformats.org/officeDocument/2006/relationships" id="272" r:id="Rf7e4e1af74c44de6"/>
    <p:sldId xmlns:r="http://schemas.openxmlformats.org/officeDocument/2006/relationships" id="273" r:id="Rf830ab0132f84893"/>
    <p:sldId xmlns:r="http://schemas.openxmlformats.org/officeDocument/2006/relationships" id="274" r:id="R87532702dac944fa"/>
    <p:sldId xmlns:r="http://schemas.openxmlformats.org/officeDocument/2006/relationships" id="275" r:id="R68c071aa8b09493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3ffcc596a2f4a1e" /><Relationship Type="http://schemas.openxmlformats.org/officeDocument/2006/relationships/slideMaster" Target="/ppt/slideMasters/slideMaster1.xml" Id="R5638b8c1ac3e437f" /><Relationship Type="http://schemas.openxmlformats.org/officeDocument/2006/relationships/notesMaster" Target="/ppt/notesMasters/notesMaster1.xml" Id="R73224fd983af4518" /><Relationship Type="http://schemas.openxmlformats.org/officeDocument/2006/relationships/presProps" Target="/ppt/presProps.xml" Id="Rfd52516e6cb44375" /><Relationship Type="http://schemas.openxmlformats.org/officeDocument/2006/relationships/tableStyles" Target="/ppt/tableStyles.xml" Id="Ra6794582118a480b" /><Relationship Type="http://schemas.openxmlformats.org/officeDocument/2006/relationships/slide" Target="/ppt/slides/slide1.xml" Id="R1f3ad25d12aa42c6" /><Relationship Type="http://schemas.openxmlformats.org/officeDocument/2006/relationships/slide" Target="/ppt/slides/slide2.xml" Id="Ra0a9e8f3b05e48c8" /><Relationship Type="http://schemas.openxmlformats.org/officeDocument/2006/relationships/slide" Target="/ppt/slides/slide3.xml" Id="Raa3cecac3425493c" /><Relationship Type="http://schemas.openxmlformats.org/officeDocument/2006/relationships/slide" Target="/ppt/slides/slide4.xml" Id="Rdab5345b4cd24a8b" /><Relationship Type="http://schemas.openxmlformats.org/officeDocument/2006/relationships/slide" Target="/ppt/slides/slide5.xml" Id="Rd701517b8c9246d0" /><Relationship Type="http://schemas.openxmlformats.org/officeDocument/2006/relationships/slide" Target="/ppt/slides/slide6.xml" Id="R9a06ff9014cb49e5" /><Relationship Type="http://schemas.openxmlformats.org/officeDocument/2006/relationships/slide" Target="/ppt/slides/slide7.xml" Id="R6fe5f2683f9f44f4" /><Relationship Type="http://schemas.openxmlformats.org/officeDocument/2006/relationships/slide" Target="/ppt/slides/slide8.xml" Id="R280eff520d924fd5" /><Relationship Type="http://schemas.openxmlformats.org/officeDocument/2006/relationships/slide" Target="/ppt/slides/slide9.xml" Id="R09f18204db4e4e19" /><Relationship Type="http://schemas.openxmlformats.org/officeDocument/2006/relationships/slide" Target="/ppt/slides/slide10.xml" Id="R6cd13941642e45b1" /><Relationship Type="http://schemas.openxmlformats.org/officeDocument/2006/relationships/slide" Target="/ppt/slides/slide11.xml" Id="Rc0c2019ec38e4535" /><Relationship Type="http://schemas.openxmlformats.org/officeDocument/2006/relationships/slide" Target="/ppt/slides/slide12.xml" Id="R1e9651c8d13d4324" /><Relationship Type="http://schemas.openxmlformats.org/officeDocument/2006/relationships/slide" Target="/ppt/slides/slide13.xml" Id="R9b111e04d62f4647" /><Relationship Type="http://schemas.openxmlformats.org/officeDocument/2006/relationships/slide" Target="/ppt/slides/slide14.xml" Id="R9d2f9ce6c16747a1" /><Relationship Type="http://schemas.openxmlformats.org/officeDocument/2006/relationships/slide" Target="/ppt/slides/slide15.xml" Id="R220cd0a23a7e41c7" /><Relationship Type="http://schemas.openxmlformats.org/officeDocument/2006/relationships/slide" Target="/ppt/slides/slide16.xml" Id="R89993a6a32b8455f" /><Relationship Type="http://schemas.openxmlformats.org/officeDocument/2006/relationships/slide" Target="/ppt/slides/slide17.xml" Id="Rf7e4e1af74c44de6" /><Relationship Type="http://schemas.openxmlformats.org/officeDocument/2006/relationships/slide" Target="/ppt/slides/slide18.xml" Id="Rf830ab0132f84893" /><Relationship Type="http://schemas.openxmlformats.org/officeDocument/2006/relationships/slide" Target="/ppt/slides/slide19.xml" Id="R87532702dac944fa" /><Relationship Type="http://schemas.openxmlformats.org/officeDocument/2006/relationships/slide" Target="/ppt/slides/slide20.xml" Id="R68c071aa8b09493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5a4208c89d1415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bbd2a6c304241b9" /><Relationship Type="http://schemas.openxmlformats.org/officeDocument/2006/relationships/notesMaster" Target="/ppt/notesMasters/notesMaster1.xml" Id="Ra11ee92a02f241f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1f352ea420e4a1a" /><Relationship Type="http://schemas.openxmlformats.org/officeDocument/2006/relationships/notesMaster" Target="/ppt/notesMasters/notesMaster1.xml" Id="Re144278e69304a3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b6c24e05ef54ecd" /><Relationship Type="http://schemas.openxmlformats.org/officeDocument/2006/relationships/notesMaster" Target="/ppt/notesMasters/notesMaster1.xml" Id="Rcfd8c9ffc98c444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29bef7ff5334934" /><Relationship Type="http://schemas.openxmlformats.org/officeDocument/2006/relationships/notesMaster" Target="/ppt/notesMasters/notesMaster1.xml" Id="R7903b4fcfe9745c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dafe6aecb5d4db1" /><Relationship Type="http://schemas.openxmlformats.org/officeDocument/2006/relationships/notesMaster" Target="/ppt/notesMasters/notesMaster1.xml" Id="R3cec9989509f4cb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9168645d4bc4b89" /><Relationship Type="http://schemas.openxmlformats.org/officeDocument/2006/relationships/notesMaster" Target="/ppt/notesMasters/notesMaster1.xml" Id="Rd12ee52b55f2402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fbd7dc6676c48f4" /><Relationship Type="http://schemas.openxmlformats.org/officeDocument/2006/relationships/notesMaster" Target="/ppt/notesMasters/notesMaster1.xml" Id="R1a54ffdf04f241b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f24e3b62f6e4c90" /><Relationship Type="http://schemas.openxmlformats.org/officeDocument/2006/relationships/notesMaster" Target="/ppt/notesMasters/notesMaster1.xml" Id="Rf98d45c6a6444c2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b888bb1a1df4ce4" /><Relationship Type="http://schemas.openxmlformats.org/officeDocument/2006/relationships/notesMaster" Target="/ppt/notesMasters/notesMaster1.xml" Id="R7071507405374b8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3eb833a305a4979" /><Relationship Type="http://schemas.openxmlformats.org/officeDocument/2006/relationships/notesMaster" Target="/ppt/notesMasters/notesMaster1.xml" Id="Rdcb86673644b475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8e70ed919344899" /><Relationship Type="http://schemas.openxmlformats.org/officeDocument/2006/relationships/notesMaster" Target="/ppt/notesMasters/notesMaster1.xml" Id="Rd0fb18419a09448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ec8cc803e1444b7" /><Relationship Type="http://schemas.openxmlformats.org/officeDocument/2006/relationships/notesMaster" Target="/ppt/notesMasters/notesMaster1.xml" Id="R1565e2c2b41b467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b1ce90b95e34d09" /><Relationship Type="http://schemas.openxmlformats.org/officeDocument/2006/relationships/notesMaster" Target="/ppt/notesMasters/notesMaster1.xml" Id="R2cbc7175a1b9452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406131956fc4a17" /><Relationship Type="http://schemas.openxmlformats.org/officeDocument/2006/relationships/notesMaster" Target="/ppt/notesMasters/notesMaster1.xml" Id="R7cd1508fc935460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92c78a05e1a4b43" /><Relationship Type="http://schemas.openxmlformats.org/officeDocument/2006/relationships/notesMaster" Target="/ppt/notesMasters/notesMaster1.xml" Id="R46b1815d9e39456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4cecdbabcc64919" /><Relationship Type="http://schemas.openxmlformats.org/officeDocument/2006/relationships/notesMaster" Target="/ppt/notesMasters/notesMaster1.xml" Id="R0d8f3b26b80b45b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f34fa9354774eef" /><Relationship Type="http://schemas.openxmlformats.org/officeDocument/2006/relationships/notesMaster" Target="/ppt/notesMasters/notesMaster1.xml" Id="Rf5e0175720a54a5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043de0f99b24e4a" /><Relationship Type="http://schemas.openxmlformats.org/officeDocument/2006/relationships/notesMaster" Target="/ppt/notesMasters/notesMaster1.xml" Id="R59c539730143400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6591bbb6d96475c" /><Relationship Type="http://schemas.openxmlformats.org/officeDocument/2006/relationships/notesMaster" Target="/ppt/notesMasters/notesMaster1.xml" Id="Rab739e8c05cb497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ff705df4fed45bd" /><Relationship Type="http://schemas.openxmlformats.org/officeDocument/2006/relationships/notesMaster" Target="/ppt/notesMasters/notesMaster1.xml" Id="R702be18eabb146f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这次汇报接着之前的异构图工作，重点收敛到 2DMD 的低缺陷浓度训练、高缺陷浓度测试。首先说明数据与评估口径，然后介绍共享关系参数和逐缺陷能量读出，再讨论材料差异、超图消融和可复现性。日期按本次整理日期填写，可按实际组会日期修改。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C:/Users/User/Desktop/group meeting 20250805.pptx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开场先回顾问题：之前的 hetero 并没有达到我们希望的 low-to-high 泛化效果。这一页引用的是同一材料 MoS₂ 的两份用户提供的完整训练 history，用户明确第一份为 attention，第二份为 hetero。hetero 目录为 features_layernorm/pool_defect_mean，对应当时尚未引入关系共享的版本。这里展示历史记录，不与后文 mixed-low 的当前结果拼成单因素消融。该远端 checkpoint 的内部配置和逐样本预测尚未核验，图上保留这一来源限制。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attention 的最佳 low 验证 MAE 为 0.002183，最终记录的 high 测试 MAE 为 0.051590。hetero 的最佳 low 验证 MAE 更低，为 0.001807，但 high 测试 MAE 达到 0.129310，是 attention 的 2.5065 倍。最重要的观察是：low 域拟合得更好，并没有带来更好的高缺陷浓度外推。两者都在最佳验证 epoch 后继续运行了 50 个 epoch，因此已有日志没有明显支持单纯训练不足的解释。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这引出后面的设计改动。第一，旧 hetero 的四种关系各有一套消息主体。对本地 MoS₂ 物理图的统计显示，low 中 defect–defect 邻居稀少，而 high 中明显增多。这使我们提出一个待检验假设：关系完全独立可能限制稀有关系的数据利用。于是引入每层共享消息主体，再用小型 relation adapter 保留关系差别。共享核心可以从所有四种关系的训练消息中学习，是否改善泛化仍需消融检验。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第二，另行检验读出：原来先平均实际缺陷的 latent representation，再通过非线性 MLP。现在让同一个 MLP 先对每个实际缺陷输出一个标量，再对这些标量求均值。目标仍是平均缺陷形成能，只使用图级标签，逐缺陷贡献不具有唯一真实能量的含义。这一步与参数共享是两个不同改动，应分别判断贡献。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过渡讲稿：所以今天的内容从这个泛化差距出发，先介绍共享消息主体与关系 adapter，再介绍逐缺陷预测后求平均的读出，随后展示结果和仍然存在的高浓度误差。原有图、节点类型融合以及其他具体保留的模块在后面的公式和备注中说明。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C:/Users/User/Desktop/HERA/logs/hetero_validation/supplied_remote_history_comparison.json</a:t>
            </a:r>
          </a:p>
          <a:p xmlns:a="http://schemas.openxmlformats.org/drawingml/2006/main">
            <a:r>
              <a:t>C:/Users/User/Desktop/HERA/docs/hetero_relation_shift_review.md</a:t>
            </a:r>
          </a:p>
          <a:p xmlns:a="http://schemas.openxmlformats.org/drawingml/2006/main">
            <a:r>
              <a:t>C:/Users/User/Desktop/HERA/docs/hetero_alignn_shared_relations.md</a:t>
            </a:r>
          </a:p>
          <a:p xmlns:a="http://schemas.openxmlformats.org/drawingml/2006/main">
            <a:r>
              <a:t>C:/Users/User/Desktop/HERA/docs/hetero_defect_energy_mean.md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预测目标核对为 formation_energy 除以缺陷数量，单位是 eV/defect，不是对所有原子平均。每种材料的 low 原始数据有 5933 条，其中 5802 条恰好 3 个缺陷，占约 97.8%。high 包含 4、9、14、19、24 个缺陷，每组 100 条。低浓度验证误差小只能说明 low 域拟合好，不能代表模型已经学会高浓度相互作用。mixed-low 经预处理保留 11864 条，和两个原始 low 子集简单相加的 11866 条有区别。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C:/Users/User/Desktop/HERA/logs/hetero_validation/wse2_evaluation_findings.md</a:t>
            </a:r>
          </a:p>
          <a:p xmlns:a="http://schemas.openxmlformats.org/drawingml/2006/main">
            <a:r>
              <a:t>C:/Users/User/Desktop/HERA/logs/hetero_validation/audit_mixed_vs_single_wse2.json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这里有四种口径，必须分开。low benchmark 的 test 仍然来自 low；high benchmark 在包含六种材料的 high 数据中做域内划分。single-material 是某一种材料的 low 训练，测试同一材料的全部 high。mixed-material 使用混合 MoS₂/WSe₂ low 训练的一份模型，分别测试两个材料的 high，不包括另外四种训练未见材料。所有 checkpoint 都按训练域验证集选择。最近反复查看 high 来提出模型修改，因此 high 已参与开发反馈，后续更强的泛化结论需要冻结实验设置并增加独立外部验证。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C:/Users/User/Desktop/HERA/logs/hetero_validation/audit_mixed_vs_single_wse2.json</a:t>
            </a:r>
          </a:p>
          <a:p xmlns:a="http://schemas.openxmlformats.org/drawingml/2006/main">
            <a:r>
              <a:t>C:/Users/User/Desktop/HERA/logs/hetero_energy_mean_benchmark/high_test_predictions_fp32/low_to_high_analysis.json</a:t>
            </a:r>
          </a:p>
          <a:p xmlns:a="http://schemas.openxmlformats.org/drawingml/2006/main">
            <a:r>
              <a:t>C:/Users/User/Desktop/HERA/logs/hetero_energy_mean_benchmark/alignn/summary.txt</a:t>
            </a:r>
          </a:p>
          <a:p xmlns:a="http://schemas.openxmlformats.org/drawingml/2006/main">
            <a:r>
              <a:t>C:/Users/User/Desktop/HERA/main.py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这里避免把 sparse、attention 和 hetero 当成只差一个 pooling 的模型。sparse 使用 MEGNet 的缺陷图和 12 Å 距离，输入包含当前及原位元素，块内用了 max，但最终读出是节点和边的 Set2Set 再加全局状态。attention 和 hetero 使用 ALIGNN 的距离与角度主干，通常 cutoff 6 Å。attention 用节点类型参与局部与全局注意力，hetero 则保留四种关系，并共享消息主体。HERA 的 DefiNet 是标记对门控的 scalar 实现，不应当称为原论文所有分支的完整复现。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C:/Users/User/Desktop/HERA/models/alignn.py</a:t>
            </a:r>
          </a:p>
          <a:p xmlns:a="http://schemas.openxmlformats.org/drawingml/2006/main">
            <a:r>
              <a:t>C:/Users/User/Desktop/HERA/models/modules.py</a:t>
            </a:r>
          </a:p>
          <a:p xmlns:a="http://schemas.openxmlformats.org/drawingml/2006/main">
            <a:r>
              <a:t>C:/Users/User/Desktop/HERA/config</a:t>
            </a:r>
          </a:p>
          <a:p xmlns:a="http://schemas.openxmlformats.org/drawingml/2006/main">
            <a:r>
              <a:t>C:/Users/User/Desktop/HERA/logs/hetero_validation/compare_mos2_sparse_config.json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这页左侧是之前的 independent，右侧是当前实验的 shared_residual，不应把纯 shared 与当前基线混为一谈。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对一条 j→i、关系为 r 的边，旧版完整公式（省略层指标）是：z_ij^r = W_s^r h_j + W_t^r h_i + W_e^r e_ij + b_z^r，v_ij^r = W_m^r h_j + b_m^r，m_ij^r = sigmoid(z_ij^r) ⊙ v_ij^r。四种关系各自有一套完整参数。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当前版本：z_ij = W_s h_j + W_t h_i + W_e e_ij + b_z，v_ij = W_m h_j + b_m，[delta_z_ij^r, delta_v_ij^r] = sigmoid(a_r) [B_r SiLU(A_r [h_j,h_i,e_ij] + b_A,r) + b_B,r]，m_ij^r = sigmoid(z_ij + delta_z_ij^r) ⊙ (v_ij + delta_v_ij^r)。slide 中省略了边指标和 affine biases，W_s/W_t/W_e/W_m 统称 W。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同一层的四种关系共享 W。每种关系各有 A_r、B_r、a_r，同一关系内所有边共用该 adapter。不同层之间不共享。隐层 H=64，adapter 为 192→8→128，128 维分为 64 维 gate 修正和 64 维 value 修正。B 的权重和 bias 零初始化，a 初值 -3，因此初始残差为 0。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聚合公式没有改变：M_i^r = [sum_{j in N_r(i)} m_ij^r] / [sum_{j in N_r(i)} sigmoid(z_ij^r, effective) + 1e-6]，逐通道相除。各关系分别归一化，再按节点类型拼接关系槽做融合。不是所有关系的边共同做一次 softmax。边状态仍按 e'_ij = e_ij + SiLU(LN(z_ij^r, effective)) 更新。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节点类型 embedding、四套初始距离编码、节点类型融合仍有区别。参数数目沿用该 PPT 原来的同宽度对照：independent 916289，shared 614465，shared_residual 679193。只把四套消息主体改为共享不能消除所有关系差别。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C:/Users/User/Desktop/HERA/models/alignn.py (HeteroRelationConv, RelationResidualAdapter, SharedHeteroRelations, _hetero_relation_update)</a:t>
            </a:r>
          </a:p>
          <a:p xmlns:a="http://schemas.openxmlformats.org/drawingml/2006/main">
            <a:r>
              <a:t>C:/Users/User/Desktop/HERA/docs/hetero_alignn_shared_relations.md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这里是另一个独立于参数共享的改动。之前的 defect_mean 为 y_hat = g((1/N) sum_{i in D} h_i)，当前实验使用的 defect_energy_mean 为 y_hat = (1/N) sum_{i in D} g(h_i)。D 只包含真实缺陷，N=|D|，所有缺陷使用同一个非线性 MLP g。g 的层宽仍然是 64→64→32→1，参数形状没有改变。代码默认值与具体实验配置要分开理解：本页“当前”指本 PPT 的当前实验配置。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非线性 g 通常不与 mean 交换。旧版先把所有缺陷的 latent representation 混合再预测，新版保留逐缺陷的非线性映射，最后对标量平均。h_i 已经包含环境和其他节点传来的消息，因此 pristine 节点仍间接影响读出。只在图级输出上逆变换 scaler 一次，图级目标仍是平均缺陷形成能。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逐缺陷标量没有单独监督，不能解释为唯一真实的逐缺陷形成能。该读出与 relation sharing 是两个改动，需要分别做消融才能确定各自贡献。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C:/Users/User/Desktop/HERA/models/alignn.py (HeteroALIGNN readout)</a:t>
            </a:r>
          </a:p>
          <a:p xmlns:a="http://schemas.openxmlformats.org/drawingml/2006/main">
            <a:r>
              <a:t>C:/Users/User/Desktop/HERA/docs/hetero_defect_energy_mean.md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这页所有模型都用 mixed low 训练。当前共享 hetero 通过一份最佳 epoch 303 的 checkpoint 分别预测两个 high 子集，用 FP32、batch 1。历史 baseline 已核对测试 ID 和标签一致，但没有统一代码和精度重训，因此只做历史结果比较。MoS₂ 相对旧 hetero 从 179.64 降至 45.54 meV，改善约 74.7%；WSe₂ 从 59.77 降至 59.05，基本相近。不能将当前结果直接宣称为所有配置下都优于 attention 或 sparse，更不能与单材料训练结果混为一组。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C:/Users/User/Desktop/HERA/logs/hetero_energy_mean_benchmark/high_test_predictions_fp32/low_to_high_analysis.json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将 500 条 high 按缺陷数分组后，误差随数量增加明显上升。4 个缺陷时 WSe₂ 比 MoS₂ 更低，但到了 24 个缺陷时 WSe₂ 达到 121.19 meV。右图定义偏差为预测减真实。24 缺陷时 MAE 与正偏差非常接近，说明误差主要由系统性高估构成，单纯增加优化轮数并不能直接针对这一现象。数据支持高浓度泛化是主要限制，但还不能唯一确定是几何交互、关系频率还是表示和读出的相关性造成。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C:/Users/User/Desktop/HERA/logs/hetero_energy_mean_benchmark/high_test_predictions_fp32/low_to_high_analysis.json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这页改为单材料训练口径，不能与上一页 mixed-low 混合排名。MoS₂ 的新 hetero 0.036838 来自用户贴出的训练 history 和明确的实验目录，该 checkpoint 尚未本地核对，标星展示。WSe₂ 新 hetero checkpoint 已下载，保存的 test MAE 为 0.052188；它仍比 sparse 0.036967、attention 0.046233 大。旧版 WSe₂ sparse、attention、hetero 的全 high 复核保留了排序，因此目前没有证据说明优势来自简单的测试集读错。但该比较没有固定 backbone、特征与所有训练条件，不能把差异唯一归于材料本身。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C:\Users\User\.codex\attachments\40916e91-6e79-4164-b78f-70d54f1072a5\pasted-text.txt</a:t>
            </a:r>
          </a:p>
          <a:p xmlns:a="http://schemas.openxmlformats.org/drawingml/2006/main">
            <a:r>
              <a:t>C:/Users/User/Desktop/HERA/logs/hetero_energy_mean_benchmark/alignn/summary.txt</a:t>
            </a:r>
          </a:p>
          <a:p xmlns:a="http://schemas.openxmlformats.org/drawingml/2006/main">
            <a:r>
              <a:t>C:/Users/User/Desktop/HERA/logs/hetero_validation/wse2_evaluation_findings.md</a:t>
            </a:r>
          </a:p>
          <a:p xmlns:a="http://schemas.openxmlformats.org/drawingml/2006/main">
            <a:r>
              <a:t>C:/Users/User/Desktop/HERA/docs/hypergraph_v3_completed_diagnosis.md</a:t>
            </a:r>
          </a:p>
          <a:p xmlns:a="http://schemas.openxmlformats.org/drawingml/2006/main">
            <a:r>
              <a:t>C:/Users/User/Desktop/HERA/logs/hetero_validation/compare_mos2_sparse_retest_history.json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同样在 WSe₂ high 上，mixed-low sparse 与 attention 的历史结果比单材料训练差很多。一个明确的混杂因素是 mixed 60/20/20 划分只用了 3588 条 WSe₂ 训练结构，而单材料 80/20 划分用了 4746 条 WSe₂。也存在历史版本不同，例如 mixed attention 的旧 BN 与单材料较新配置。因而不能直接归因于负迁移。更可靠的对照是保持相同 WSe₂ 训练 ID，再加入 MoS₂ 数据，并匹配总优化步数、材料采样与 checkpoint 选择。当前 shared hetero 的 mixed 和 single WSe₂ 差距较小，但仍只有单 seed。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C:/Users/User/Desktop/HERA/logs/hetero_validation/audit_mixed_vs_single_wse2.json</a:t>
            </a:r>
          </a:p>
          <a:p xmlns:a="http://schemas.openxmlformats.org/drawingml/2006/main">
            <a:r>
              <a:t>C:/Users/User/Desktop/HERA/logs/hetero_energy_mean_benchmark/high_test_predictions_fp32/low_to_high_analysis.json</a:t>
            </a:r>
          </a:p>
          <a:p xmlns:a="http://schemas.openxmlformats.org/drawingml/2006/main">
            <a:r>
              <a:t>C:/Users/User/Desktop/HERA/logs/hetero_energy_mean_benchmark/alignn/summary.txt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之前以为结果在 0.1 左右，后来看到 0.25 或 0.06，关键是版本不一致。v2 为 0.168732；旧 v3 使用分层 attention 读出，checkpoint 的预测头输入 256 维，结果 0.250031。后来的 defect_mean 去掉额外背景读出分支，预测头输入 64 维，重新训练的 local+global 为 0.068386。不能将推理时临时换 pooling 的实验解释为新版本训练成绩，也不能把不同版本所有改善都归因于唯一因素。接下来用同一版本的更新消融判断超边消息是否有贡献。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C:/Users/User/Desktop/HERA/docs/hypergraph_v3_completed_diagnosis.md</a:t>
            </a:r>
          </a:p>
          <a:p xmlns:a="http://schemas.openxmlformats.org/drawingml/2006/main">
            <a:r>
              <a:t>C:/Users/User/Desktop/HERA/logs/2dmd_mos2_hypergraph_ablation/alignn/2dmd_mos2/summary.txt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这三组才是当前相对明确的超图消息对照，物理主干、读出和初始权重一致。关闭整个超图更新块为 0.06194，local 0.07582，local+global 0.06839。global 相对 local 减少了一部分误差，但仍然没超过关闭更新。这个结果不支持“local 永远没用”，也不能评价尚未完成的 global-only 或 energy-mean 组合。当前局部超边由中心 defect 和 3 Å 内 pristine 构成，不包含其他 defect；全局超边连接全部 defects，没有直接输入成对的 defect 距离。单 seed 结果需要复验。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C:/Users/User/Desktop/HERA/docs/hypergraph_update_ablation.md</a:t>
            </a:r>
          </a:p>
          <a:p xmlns:a="http://schemas.openxmlformats.org/drawingml/2006/main">
            <a:r>
              <a:t>C:/Users/User/Desktop/HERA/docs/hypergraph_energy_global_ablation.md</a:t>
            </a:r>
          </a:p>
          <a:p xmlns:a="http://schemas.openxmlformats.org/drawingml/2006/main">
            <a:r>
              <a:t>C:/Users/User/Desktop/HERA/logs/2dmd_mos2_hypergraph_ablation/alignn/2dmd_mos2/summary.txt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MoS₂ sparse 新跑出的 high 误差比本地记录高约 19.2%，虽然 low 验证更好。已确认本地旧 checkpoint 与当前 sparse 默认配置和参数形状匹配，但新远端权重与环境未完全核对，不能断言两次一切相同。独立进程短测试固定了代码、环境、图、初始化和 batch 顺序。GPU 固定权重推理完全一致，第一步梯度开始出现约 7.45e-9 的差异，100 步后最大预测差约 1.86e-5；CPU 单线程完全一致。这证明训练数值可重复性有限，不能证明这么小的差异必然导致历史 0.03 的 MAE 差。后续要记录代码、环境和划分并跑多 seed。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C:/Users/User/Desktop/HERA/logs/hetero_validation/compare_mos2_sparse_retest_history.json</a:t>
            </a:r>
          </a:p>
          <a:p xmlns:a="http://schemas.openxmlformats.org/drawingml/2006/main">
            <a:r>
              <a:t>C:/Users/User/Desktop/HERA/logs/hetero_validation/compare_mos2_sparse_config.json</a:t>
            </a:r>
          </a:p>
          <a:p xmlns:a="http://schemas.openxmlformats.org/drawingml/2006/main">
            <a:r>
              <a:t>C:/Users/User/Desktop/HERA/logs/sparse_reproducibility/20260915_021549_556655/report.json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当前基线已经完成结果分析。下一步两个选项都已实现，但没有本地完整训练结果。跨关系注意力复用 gate logits，对同一目标的所有关系入边统一逐通道 softmax，仍保留关系消息槽。它不是原 attention 的四头网络完全复制。sparse residual 在主干读出之前加入 12 Å 的真实缺陷间消息，使用距离 RBF 和 gated message，按照用户确定的普通 mean 聚合，不能写成 max。输出投影从零初始化，因此初始模型与 baseline 完全相同。优先分开测试，避免把多个改动叠加后无法解释。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C:/Users/User/Desktop/HERA/docs/hetero_interaction_ablation.md</a:t>
            </a:r>
          </a:p>
          <a:p xmlns:a="http://schemas.openxmlformats.org/drawingml/2006/main">
            <a:r>
              <a:t>C:/Users/User/Desktop/HERA/models/alignn.py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已经补齐 main 与 low checkpoint 推理脚本。all 覆盖三个 backbone 的适用模式，共 32 个非重复配置，两个数据集合计 64 组 seed123 训练。训练完只筛选 low 权重，在 MoS₂ high 和 WSe₂ high 分开测试，每个 500 条。high 域内 benchmark 则包含六种材料，不能与这两个子集混淆。当前命令是单 seed，不能生成有意义的 seed 方差；多 seed 是下一步。也要明确，各 backbone 保留适用的原配置，这是一组 benchmark，不是每一项都属于单因素消融。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C:/Users/User/Desktop/HERA/README.md</a:t>
            </a:r>
          </a:p>
          <a:p xmlns:a="http://schemas.openxmlformats.org/drawingml/2006/main">
            <a:r>
              <a:t>C:/Users/User/Desktop/HERA/main.py</a:t>
            </a:r>
          </a:p>
          <a:p xmlns:a="http://schemas.openxmlformats.org/drawingml/2006/main">
            <a:r>
              <a:t>C:/Users/User/Desktop/HERA/predict_2dmd_low_checkpoints.py</a:t>
            </a:r>
          </a:p>
          <a:p xmlns:a="http://schemas.openxmlformats.org/drawingml/2006/main">
            <a:r>
              <a:t>C:/Users/User/Desktop/HERA/tests/test_predict_2dmd_low_checkpoints.py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收束到三个结论。第一，共享消息主体、关系 adapter 和能量均值读出形成了目前更强的 hetero 基线，尤其是 mixed-low 的 MoS₂，但单材料 WSe₂ 仍未超过 sparse 和 attention。第二，主要剩余问题是高浓度正偏差，不能只追求更低的 low 验证误差。第三，超图更新没有显示额外收益，应先完成可追溯的全模型 benchmark，再做跨关系 attention 和距离缺陷残差的独立实验，用多 seed 判断提升是否稳定。这里不承诺任何一个结构一定超过 attention。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C:/Users/User/Desktop/HERA/logs/hetero_energy_mean_benchmark/high_test_predictions_fp32/low_to_high_report.md</a:t>
            </a:r>
          </a:p>
          <a:p xmlns:a="http://schemas.openxmlformats.org/drawingml/2006/main">
            <a:r>
              <a:t>C:/Users/User/Desktop/HERA/logs/2dmd_mos2_hypergraph_ablation/alignn/2dmd_mos2/summary.txt</a:t>
            </a:r>
          </a:p>
          <a:p xmlns:a="http://schemas.openxmlformats.org/drawingml/2006/main">
            <a:r>
              <a:t>C:/Users/User/Desktop/HERA/docs/hetero_interaction_ablation.md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默认配置是 hidden64、3 个 attention ALIGNN block 加 3 个 GCN block，后接类型和全局上下文条件的 attention 读出。局部消息同时看源、目标和边特征，并有 sigmoid gate；注意力打分再额外看两个端点类型。四个 head 分别对邻居归一化，最后平均权重乘同一条消息，不是标准 Transformer 把四套 value 拼接。全局 score 同时看 h_i、类型 embedding 和全图平均上下文。共享参数和邻居竞争是值得借鉴的机制，但不能从性能排名证明它们就是泛化提升原因，也不能把注意力权重当作因果重要性。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C:/Users/User/Desktop/HERA/models/alignn.py</a:t>
            </a:r>
          </a:p>
          <a:p xmlns:a="http://schemas.openxmlformats.org/drawingml/2006/main">
            <a:r>
              <a:t>C:/Users/User/Desktop/HERA/models/modules.py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用户之前关心 adapter 和 DefiNet 是否一样。两者都利用类型信息，但参数化不同。adapter 是每层、每关系一套根据源目标边状态计算的低秩修正，同时改变 gate 和 value；DefiNet-style scalar 门控根据标记对和距离调制共享消息，不等同四个独立关系修正网络。前面还实现过 pair_message 与 shared_distance 选项。当前带正式结果的基线没有同时开启这些选项，也没有启用下一轮的 cross_relation_attention 或 sparse_residual，因此报告不能把它们写成已有性能来源。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C:/Users/User/Desktop/HERA/docs/hetero_alignn_shared_relations.md</a:t>
            </a:r>
          </a:p>
          <a:p xmlns:a="http://schemas.openxmlformats.org/drawingml/2006/main">
            <a:r>
              <a:t>C:/Users/User/Desktop/HERA/docs/hetero_message_distance_ablation.md</a:t>
            </a:r>
          </a:p>
          <a:p xmlns:a="http://schemas.openxmlformats.org/drawingml/2006/main">
            <a:r>
              <a:t>C:/Users/User/Desktop/HERA/models/modules.py</a:t>
            </a:r>
          </a:p>
          <a:p xmlns:a="http://schemas.openxmlformats.org/drawingml/2006/main">
            <a:r>
              <a:t>C:/Users/User/Desktop/HERA/models/alignn.py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这页用于追溯常见的数字混淆。0.002633 是 mixed-low 模型的 low 域内 test，不是 high；0.052567 是另一个用 high 训练的模型做 high 域内测试，不是 low-to-high。0.045536 和 0.059055 才来自同一份 mixed-low checkpoint 的两个外部 high 子集。shared hetero 的全程 LayerNorm、r0、rank8 和 energy mean 由 checkpoint config 核对。混合低浓度 checkpoint SHA256 为 aaf4995019b6dbe70d4da0c5aa65ff9eefead9f37e49f4b64c7cc1a048548a49。本次外部评估为 FP32、batch1、RTX5060Ti，500 条唯一 ID 和原始 high 标签已匹配。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C:/Users/User/Desktop/HERA/logs/hetero_energy_mean_benchmark/high_test_predictions_fp32/low_to_high_analysis.json</a:t>
            </a:r>
          </a:p>
          <a:p xmlns:a="http://schemas.openxmlformats.org/drawingml/2006/main">
            <a:r>
              <a:t>C:/Users/User/Desktop/HERA/logs/hetero_energy_mean_benchmark/alignn/summary.txt</a:t>
            </a:r>
          </a:p>
          <a:p xmlns:a="http://schemas.openxmlformats.org/drawingml/2006/main">
            <a:r>
              <a:t>C:/Users/User/Desktop/HERA/logs/hetero_energy_mean_benchmark/alignn/2dmd_high/hetero/r0/features_layernorm/pool_defect_energy_mean/relations_shared_residual_rank8/seed123_history.csv</a:t>
            </a:r>
          </a:p>
          <a:p xmlns:a="http://schemas.openxmlformats.org/drawingml/2006/main">
            <a:r>
              <a:t>C:/Users/User/Desktop/HERA/logs/hetero_energy_mean_benchmark/alignn/2dmd_wse2/hetero/r0/features_layernorm/pool_defect_energy_mean/relations_shared_residual_rank8/seed123_history.csv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8f0b34bfbd459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70fc68f044a4c4b" /><Relationship Type="http://schemas.openxmlformats.org/officeDocument/2006/relationships/slideLayout" Target="/ppt/slideLayouts/slideLayout1.xml" Id="R00cc38d15028468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0cc38d15028468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4edd3197c34f53" /><Relationship Type="http://schemas.openxmlformats.org/officeDocument/2006/relationships/image" Target="/ppt/media/image.png" Id="Rdd34e63c9b574e7a" /><Relationship Type="http://schemas.openxmlformats.org/officeDocument/2006/relationships/notesSlide" Target="/ppt/notesSlides/notesSlide1.xml" Id="Rd3f84157eae0432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722c3faf1a493b" /><Relationship Type="http://schemas.openxmlformats.org/officeDocument/2006/relationships/image" Target="/ppt/media/image2.png" Id="R674625e259f84554" /><Relationship Type="http://schemas.openxmlformats.org/officeDocument/2006/relationships/notesSlide" Target="/ppt/notesSlides/notesSlide2.xml" Id="R7579503f5437479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65d3d33f744a2b" /><Relationship Type="http://schemas.openxmlformats.org/officeDocument/2006/relationships/image" Target="/ppt/media/image3.png" Id="R2666ca370b044bba" /><Relationship Type="http://schemas.openxmlformats.org/officeDocument/2006/relationships/notesSlide" Target="/ppt/notesSlides/notesSlide3.xml" Id="Re494175b45e04e9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91aa9e0eff4108" /><Relationship Type="http://schemas.openxmlformats.org/officeDocument/2006/relationships/image" Target="/ppt/media/image4.png" Id="R568c87746b824ea3" /><Relationship Type="http://schemas.openxmlformats.org/officeDocument/2006/relationships/notesSlide" Target="/ppt/notesSlides/notesSlide4.xml" Id="R81ff7e4e88ce467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cbfcab6d6e49e9" /><Relationship Type="http://schemas.openxmlformats.org/officeDocument/2006/relationships/image" Target="/ppt/media/image5.png" Id="Rd8a701733e8940b8" /><Relationship Type="http://schemas.openxmlformats.org/officeDocument/2006/relationships/notesSlide" Target="/ppt/notesSlides/notesSlide5.xml" Id="R57eab7f310ba44a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4e5f4584ee43c6" /><Relationship Type="http://schemas.openxmlformats.org/officeDocument/2006/relationships/image" Target="/ppt/media/image6.png" Id="R872265293bce4892" /><Relationship Type="http://schemas.openxmlformats.org/officeDocument/2006/relationships/notesSlide" Target="/ppt/notesSlides/notesSlide6.xml" Id="Rb8fbaf8cff26481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474a1a6eab4dfa" /><Relationship Type="http://schemas.openxmlformats.org/officeDocument/2006/relationships/image" Target="/ppt/media/image7.png" Id="R7ee4f117cee94db0" /><Relationship Type="http://schemas.openxmlformats.org/officeDocument/2006/relationships/notesSlide" Target="/ppt/notesSlides/notesSlide7.xml" Id="Rc4108798f5b8482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3cadb2f39a4b8f" /><Relationship Type="http://schemas.openxmlformats.org/officeDocument/2006/relationships/image" Target="/ppt/media/image8.png" Id="R4adf1b13bf0b4dfe" /><Relationship Type="http://schemas.openxmlformats.org/officeDocument/2006/relationships/chart" Target="/ppt/slides/charts/chart1.xml" Id="Rc401874446a342df" /><Relationship Type="http://schemas.openxmlformats.org/officeDocument/2006/relationships/notesSlide" Target="/ppt/notesSlides/notesSlide8.xml" Id="R9aba3ead891d4a1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81b49036a34024" /><Relationship Type="http://schemas.openxmlformats.org/officeDocument/2006/relationships/image" Target="/ppt/media/image9.png" Id="Reb5e767e85bc4366" /><Relationship Type="http://schemas.openxmlformats.org/officeDocument/2006/relationships/chart" Target="/ppt/slides/charts/chart2.xml" Id="R142b668939964064" /><Relationship Type="http://schemas.openxmlformats.org/officeDocument/2006/relationships/chart" Target="/ppt/slides/charts/chart3.xml" Id="Rf05eeea5ada74798" /><Relationship Type="http://schemas.openxmlformats.org/officeDocument/2006/relationships/notesSlide" Target="/ppt/notesSlides/notesSlide9.xml" Id="Rd81ad889bcad40c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61e09e624b4b20" /><Relationship Type="http://schemas.openxmlformats.org/officeDocument/2006/relationships/image" Target="/ppt/media/image10.png" Id="Ra540a9b4834b4a03" /><Relationship Type="http://schemas.openxmlformats.org/officeDocument/2006/relationships/notesSlide" Target="/ppt/notesSlides/notesSlide10.xml" Id="Rb59335ec4ea944e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0b9c52f17b45bc" /><Relationship Type="http://schemas.openxmlformats.org/officeDocument/2006/relationships/image" Target="/ppt/media/image11.png" Id="R85089533b0f7477d" /><Relationship Type="http://schemas.openxmlformats.org/officeDocument/2006/relationships/chart" Target="/ppt/slides/charts/chart4.xml" Id="R077e57fbfff54a1c" /><Relationship Type="http://schemas.openxmlformats.org/officeDocument/2006/relationships/notesSlide" Target="/ppt/notesSlides/notesSlide11.xml" Id="R3caabab7bdde411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519bbd7a974632" /><Relationship Type="http://schemas.openxmlformats.org/officeDocument/2006/relationships/image" Target="/ppt/media/image12.png" Id="R599d536588674793" /><Relationship Type="http://schemas.openxmlformats.org/officeDocument/2006/relationships/notesSlide" Target="/ppt/notesSlides/notesSlide12.xml" Id="R9a6a8b938aa64c4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956dade6bc4636" /><Relationship Type="http://schemas.openxmlformats.org/officeDocument/2006/relationships/image" Target="/ppt/media/image13.png" Id="R60f66982344048f6" /><Relationship Type="http://schemas.openxmlformats.org/officeDocument/2006/relationships/chart" Target="/ppt/slides/charts/chart5.xml" Id="Rcced540c2c194859" /><Relationship Type="http://schemas.openxmlformats.org/officeDocument/2006/relationships/notesSlide" Target="/ppt/notesSlides/notesSlide13.xml" Id="R5fe9db1ac599477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99da5d42134df2" /><Relationship Type="http://schemas.openxmlformats.org/officeDocument/2006/relationships/image" Target="/ppt/media/image14.png" Id="Rd8a61a2b838b47f5" /><Relationship Type="http://schemas.openxmlformats.org/officeDocument/2006/relationships/notesSlide" Target="/ppt/notesSlides/notesSlide14.xml" Id="Rbef691e2ae0b4f7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f26ceb7e1e4b9e" /><Relationship Type="http://schemas.openxmlformats.org/officeDocument/2006/relationships/image" Target="/ppt/media/image15.png" Id="R1452e547d89f47ec" /><Relationship Type="http://schemas.openxmlformats.org/officeDocument/2006/relationships/notesSlide" Target="/ppt/notesSlides/notesSlide15.xml" Id="Rbe04b14bc63f477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436f88942b4151" /><Relationship Type="http://schemas.openxmlformats.org/officeDocument/2006/relationships/image" Target="/ppt/media/image16.png" Id="R9df91b6acd44474d" /><Relationship Type="http://schemas.openxmlformats.org/officeDocument/2006/relationships/notesSlide" Target="/ppt/notesSlides/notesSlide16.xml" Id="R27fbdfdc48ff43f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25b5bf095a40b5" /><Relationship Type="http://schemas.openxmlformats.org/officeDocument/2006/relationships/image" Target="/ppt/media/image17.png" Id="Re33455e70b224cac" /><Relationship Type="http://schemas.openxmlformats.org/officeDocument/2006/relationships/notesSlide" Target="/ppt/notesSlides/notesSlide17.xml" Id="Rbda2461c5dd1456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6a19be2af947d9" /><Relationship Type="http://schemas.openxmlformats.org/officeDocument/2006/relationships/image" Target="/ppt/media/image18.png" Id="Reb3b264aa6e54f9c" /><Relationship Type="http://schemas.openxmlformats.org/officeDocument/2006/relationships/notesSlide" Target="/ppt/notesSlides/notesSlide18.xml" Id="R1ab7fb04867b49c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8a75d2167f4e7f" /><Relationship Type="http://schemas.openxmlformats.org/officeDocument/2006/relationships/image" Target="/ppt/media/image19.png" Id="R8b2cfebe87b14f72" /><Relationship Type="http://schemas.openxmlformats.org/officeDocument/2006/relationships/notesSlide" Target="/ppt/notesSlides/notesSlide19.xml" Id="R45c3572f179d40a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79690837144080" /><Relationship Type="http://schemas.openxmlformats.org/officeDocument/2006/relationships/image" Target="/ppt/media/image20.png" Id="R5866bcccbe1743a6" /><Relationship Type="http://schemas.openxmlformats.org/officeDocument/2006/relationships/notesSlide" Target="/ppt/notesSlides/notesSlide20.xml" Id="R8f5863b4a0a84efa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Sparse, historical</c:v>
          </c:tx>
          <c:spPr>
            <a:solidFill xmlns:a="http://schemas.openxmlformats.org/drawingml/2006/main">
              <a:srgbClr val="7D8891"/>
            </a:solidFill>
            <a:ln xmlns:a="http://schemas.openxmlformats.org/drawingml/2006/main" w="0">
              <a:solidFill>
                <a:srgbClr val="7D8891"/>
              </a:solidFill>
            </a:ln>
          </c:spPr>
          <c:cat>
            <c:strRef>
              <c:f>'Chart Data'!$A$2:$A$3</c:f>
              <c:strCache>
                <c:ptCount val="2"/>
                <c:pt idx="0">
                  <c:v>MoS₂ high</c:v>
                </c:pt>
                <c:pt idx="1">
                  <c:v>WSe₂ high</c:v>
                </c:pt>
              </c:strCache>
            </c:strRef>
          </c:cat>
          <c:val>
            <c:numRef>
              <c:f>'Chart Data'!$B$2:$B$3</c:f>
              <c:numCache>
                <c:formatCode>0.0</c:formatCode>
                <c:ptCount val="2"/>
                <c:pt idx="0">
                  <c:v>136.365293</c:v>
                </c:pt>
                <c:pt idx="1">
                  <c:v>113.740639</c:v>
                </c:pt>
              </c:numCache>
            </c:numRef>
          </c:val>
        </c:ser>
        <c:ser>
          <c:idx val="1"/>
          <c:order val="1"/>
          <c:tx>
            <c:v>Attention, historical</c:v>
          </c:tx>
          <c:spPr>
            <a:solidFill xmlns:a="http://schemas.openxmlformats.org/drawingml/2006/main">
              <a:srgbClr val="346F96"/>
            </a:solidFill>
            <a:ln xmlns:a="http://schemas.openxmlformats.org/drawingml/2006/main" w="0">
              <a:solidFill>
                <a:srgbClr val="346F96"/>
              </a:solidFill>
            </a:ln>
          </c:spPr>
          <c:cat>
            <c:strRef>
              <c:f>'Chart Data'!$C$2:$C$3</c:f>
              <c:strCache>
                <c:ptCount val="2"/>
                <c:pt idx="0">
                  <c:v>MoS₂ high</c:v>
                </c:pt>
                <c:pt idx="1">
                  <c:v>WSe₂ high</c:v>
                </c:pt>
              </c:strCache>
            </c:strRef>
          </c:cat>
          <c:val>
            <c:numRef>
              <c:f>'Chart Data'!$D$2:$D$3</c:f>
              <c:numCache>
                <c:formatCode>0.0</c:formatCode>
                <c:ptCount val="2"/>
                <c:pt idx="0">
                  <c:v>96.656766</c:v>
                </c:pt>
                <c:pt idx="1">
                  <c:v>106.536773</c:v>
                </c:pt>
              </c:numCache>
            </c:numRef>
          </c:val>
        </c:ser>
        <c:ser>
          <c:idx val="2"/>
          <c:order val="2"/>
          <c:tx>
            <c:v>Hetero, historical</c:v>
          </c:tx>
          <c:spPr>
            <a:solidFill xmlns:a="http://schemas.openxmlformats.org/drawingml/2006/main">
              <a:srgbClr val="247D73"/>
            </a:solidFill>
            <a:ln xmlns:a="http://schemas.openxmlformats.org/drawingml/2006/main" w="0">
              <a:solidFill>
                <a:srgbClr val="247D73"/>
              </a:solidFill>
            </a:ln>
          </c:spPr>
          <c:cat>
            <c:strRef>
              <c:f>'Chart Data'!$E$2:$E$3</c:f>
              <c:strCache>
                <c:ptCount val="2"/>
                <c:pt idx="0">
                  <c:v>MoS₂ high</c:v>
                </c:pt>
                <c:pt idx="1">
                  <c:v>WSe₂ high</c:v>
                </c:pt>
              </c:strCache>
            </c:strRef>
          </c:cat>
          <c:val>
            <c:numRef>
              <c:f>'Chart Data'!$F$2:$F$3</c:f>
              <c:numCache>
                <c:formatCode>0.0</c:formatCode>
                <c:ptCount val="2"/>
                <c:pt idx="0">
                  <c:v>179.638298</c:v>
                </c:pt>
                <c:pt idx="1">
                  <c:v>59.772125</c:v>
                </c:pt>
              </c:numCache>
            </c:numRef>
          </c:val>
        </c:ser>
        <c:ser>
          <c:idx val="3"/>
          <c:order val="3"/>
          <c:tx>
            <c:v>Shared hetero, current</c:v>
          </c:tx>
          <c:spPr>
            <a:solidFill xmlns:a="http://schemas.openxmlformats.org/drawingml/2006/main">
              <a:srgbClr val="A32638"/>
            </a:solidFill>
            <a:ln xmlns:a="http://schemas.openxmlformats.org/drawingml/2006/main" w="0">
              <a:solidFill>
                <a:srgbClr val="A32638"/>
              </a:solidFill>
            </a:ln>
          </c:spPr>
          <c:cat>
            <c:strRef>
              <c:f>'Chart Data'!$G$2:$G$3</c:f>
              <c:strCache>
                <c:ptCount val="2"/>
                <c:pt idx="0">
                  <c:v>MoS₂ high</c:v>
                </c:pt>
                <c:pt idx="1">
                  <c:v>WSe₂ high</c:v>
                </c:pt>
              </c:strCache>
            </c:strRef>
          </c:cat>
          <c:val>
            <c:numRef>
              <c:f>'Chart Data'!$H$2:$H$3</c:f>
              <c:numCache>
                <c:formatCode>0.0</c:formatCode>
                <c:ptCount val="2"/>
                <c:pt idx="0">
                  <c:v>45.535612</c:v>
                </c:pt>
                <c:pt idx="1">
                  <c:v>59.054647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7212A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7D889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</c:catAx>
      <c:valAx>
        <c:axId val="48672768"/>
        <c:scaling>
          <c:orientation val="minMax"/>
          <c:max val="21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D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212A"/>
                    </a:solidFill>
                    <a:latin typeface="Times New Roman"/>
                    <a:ea typeface="Times New Roman"/>
                    <a:cs typeface="Times New Roman"/>
                  </a:rPr>
                  <a:t>MAE (meV/defect)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212A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  <c:majorUnit val="5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7212A"/>
              </a:solidFill>
              <a:latin typeface="Times New Roman"/>
              <a:ea typeface="Times New Roman"/>
              <a:cs typeface="Times New Roman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MoS₂</c:v>
          </c:tx>
          <c:spPr>
            <a:solidFill xmlns:a="http://schemas.openxmlformats.org/drawingml/2006/main">
              <a:srgbClr val="346F96"/>
            </a:solidFill>
            <a:ln xmlns:a="http://schemas.openxmlformats.org/drawingml/2006/main" w="28575">
              <a:solidFill>
                <a:srgbClr val="346F96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346F96"/>
              </a:solidFill>
            </c:spPr>
          </c:marker>
          <c:cat>
            <c:numRef>
              <c:f>'Chart Data'!$A$2:$A$6</c:f>
              <c:numCache>
                <c:formatCode>General</c:formatCode>
                <c:ptCount val="5"/>
                <c:pt idx="0">
                  <c:v>4</c:v>
                </c:pt>
                <c:pt idx="1">
                  <c:v>9</c:v>
                </c:pt>
                <c:pt idx="2">
                  <c:v>14</c:v>
                </c:pt>
                <c:pt idx="3">
                  <c:v>19</c:v>
                </c:pt>
                <c:pt idx="4">
                  <c:v>24</c:v>
                </c:pt>
              </c:numCache>
            </c:numRef>
          </c:cat>
          <c:val>
            <c:numRef>
              <c:f>'Chart Data'!$B$2:$B$6</c:f>
              <c:numCache>
                <c:formatCode>0.0</c:formatCode>
                <c:ptCount val="5"/>
                <c:pt idx="0">
                  <c:v>17.644331</c:v>
                </c:pt>
                <c:pt idx="1">
                  <c:v>26.716467</c:v>
                </c:pt>
                <c:pt idx="2">
                  <c:v>37.911252</c:v>
                </c:pt>
                <c:pt idx="3">
                  <c:v>59.930624</c:v>
                </c:pt>
                <c:pt idx="4">
                  <c:v>85.475386</c:v>
                </c:pt>
              </c:numCache>
            </c:numRef>
          </c:val>
          <c:smooth val="0"/>
        </c:ser>
        <c:ser>
          <c:idx val="1"/>
          <c:order val="1"/>
          <c:tx>
            <c:v>WSe₂</c:v>
          </c:tx>
          <c:spPr>
            <a:solidFill xmlns:a="http://schemas.openxmlformats.org/drawingml/2006/main">
              <a:srgbClr val="A32638"/>
            </a:solidFill>
            <a:ln xmlns:a="http://schemas.openxmlformats.org/drawingml/2006/main" w="28575">
              <a:solidFill>
                <a:srgbClr val="A32638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A32638"/>
              </a:solidFill>
            </c:spPr>
          </c:marker>
          <c:cat>
            <c:numRef>
              <c:f>'Chart Data'!$C$2:$C$6</c:f>
              <c:numCache>
                <c:formatCode>General</c:formatCode>
                <c:ptCount val="5"/>
                <c:pt idx="0">
                  <c:v>4</c:v>
                </c:pt>
                <c:pt idx="1">
                  <c:v>9</c:v>
                </c:pt>
                <c:pt idx="2">
                  <c:v>14</c:v>
                </c:pt>
                <c:pt idx="3">
                  <c:v>19</c:v>
                </c:pt>
                <c:pt idx="4">
                  <c:v>24</c:v>
                </c:pt>
              </c:numCache>
            </c:numRef>
          </c:cat>
          <c:val>
            <c:numRef>
              <c:f>'Chart Data'!$D$2:$D$6</c:f>
              <c:numCache>
                <c:formatCode>0.0</c:formatCode>
                <c:ptCount val="5"/>
                <c:pt idx="0">
                  <c:v>9.073818</c:v>
                </c:pt>
                <c:pt idx="1">
                  <c:v>27.520038</c:v>
                </c:pt>
                <c:pt idx="2">
                  <c:v>56.660447</c:v>
                </c:pt>
                <c:pt idx="3">
                  <c:v>80.830925</c:v>
                </c:pt>
                <c:pt idx="4">
                  <c:v>121.18801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7212A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212A"/>
                    </a:solidFill>
                    <a:latin typeface="Times New Roman"/>
                    <a:ea typeface="Times New Roman"/>
                    <a:cs typeface="Times New Roman"/>
                  </a:rPr>
                  <a:t>Defects per structure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212A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7D889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</c:catAx>
      <c:valAx>
        <c:axId val="48672768"/>
        <c:scaling>
          <c:orientation val="minMax"/>
          <c:max val="14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D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212A"/>
                    </a:solidFill>
                    <a:latin typeface="Times New Roman"/>
                    <a:ea typeface="Times New Roman"/>
                    <a:cs typeface="Times New Roman"/>
                  </a:rPr>
                  <a:t>MAE (meV/defect)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212A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  <c:majorUnit val="3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7212A"/>
              </a:solidFill>
              <a:latin typeface="Times New Roman"/>
              <a:ea typeface="Times New Roman"/>
              <a:cs typeface="Times New Roman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MoS₂</c:v>
          </c:tx>
          <c:spPr>
            <a:solidFill xmlns:a="http://schemas.openxmlformats.org/drawingml/2006/main">
              <a:srgbClr val="346F96"/>
            </a:solidFill>
            <a:ln xmlns:a="http://schemas.openxmlformats.org/drawingml/2006/main" w="28575">
              <a:solidFill>
                <a:srgbClr val="346F96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346F96"/>
              </a:solidFill>
            </c:spPr>
          </c:marker>
          <c:cat>
            <c:numRef>
              <c:f>'Chart Data'!$A$2:$A$6</c:f>
              <c:numCache>
                <c:formatCode>General</c:formatCode>
                <c:ptCount val="5"/>
                <c:pt idx="0">
                  <c:v>4</c:v>
                </c:pt>
                <c:pt idx="1">
                  <c:v>9</c:v>
                </c:pt>
                <c:pt idx="2">
                  <c:v>14</c:v>
                </c:pt>
                <c:pt idx="3">
                  <c:v>19</c:v>
                </c:pt>
                <c:pt idx="4">
                  <c:v>24</c:v>
                </c:pt>
              </c:numCache>
            </c:numRef>
          </c:cat>
          <c:val>
            <c:numRef>
              <c:f>'Chart Data'!$B$2:$B$6</c:f>
              <c:numCache>
                <c:formatCode>0.0</c:formatCode>
                <c:ptCount val="5"/>
                <c:pt idx="0">
                  <c:v>-15.76104</c:v>
                </c:pt>
                <c:pt idx="1">
                  <c:v>16.00789</c:v>
                </c:pt>
                <c:pt idx="2">
                  <c:v>27.793868</c:v>
                </c:pt>
                <c:pt idx="3">
                  <c:v>56.136383</c:v>
                </c:pt>
                <c:pt idx="4">
                  <c:v>83.554572</c:v>
                </c:pt>
              </c:numCache>
            </c:numRef>
          </c:val>
          <c:smooth val="0"/>
        </c:ser>
        <c:ser>
          <c:idx val="1"/>
          <c:order val="1"/>
          <c:tx>
            <c:v>WSe₂</c:v>
          </c:tx>
          <c:spPr>
            <a:solidFill xmlns:a="http://schemas.openxmlformats.org/drawingml/2006/main">
              <a:srgbClr val="A32638"/>
            </a:solidFill>
            <a:ln xmlns:a="http://schemas.openxmlformats.org/drawingml/2006/main" w="28575">
              <a:solidFill>
                <a:srgbClr val="A32638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A32638"/>
              </a:solidFill>
            </c:spPr>
          </c:marker>
          <c:cat>
            <c:numRef>
              <c:f>'Chart Data'!$C$2:$C$6</c:f>
              <c:numCache>
                <c:formatCode>General</c:formatCode>
                <c:ptCount val="5"/>
                <c:pt idx="0">
                  <c:v>4</c:v>
                </c:pt>
                <c:pt idx="1">
                  <c:v>9</c:v>
                </c:pt>
                <c:pt idx="2">
                  <c:v>14</c:v>
                </c:pt>
                <c:pt idx="3">
                  <c:v>19</c:v>
                </c:pt>
                <c:pt idx="4">
                  <c:v>24</c:v>
                </c:pt>
              </c:numCache>
            </c:numRef>
          </c:cat>
          <c:val>
            <c:numRef>
              <c:f>'Chart Data'!$D$2:$D$6</c:f>
              <c:numCache>
                <c:formatCode>0.0</c:formatCode>
                <c:ptCount val="5"/>
                <c:pt idx="0">
                  <c:v>4.515221</c:v>
                </c:pt>
                <c:pt idx="1">
                  <c:v>1.061594</c:v>
                </c:pt>
                <c:pt idx="2">
                  <c:v>43.525363</c:v>
                </c:pt>
                <c:pt idx="3">
                  <c:v>71.585794</c:v>
                </c:pt>
                <c:pt idx="4">
                  <c:v>116.616167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7212A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212A"/>
                    </a:solidFill>
                    <a:latin typeface="Times New Roman"/>
                    <a:ea typeface="Times New Roman"/>
                    <a:cs typeface="Times New Roman"/>
                  </a:rPr>
                  <a:t>Defects per structure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212A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7D889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</c:catAx>
      <c:valAx>
        <c:axId val="48672768"/>
        <c:scaling>
          <c:orientation val="minMax"/>
          <c:max val="140"/>
          <c:min val="-35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D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212A"/>
                    </a:solidFill>
                    <a:latin typeface="Times New Roman"/>
                    <a:ea typeface="Times New Roman"/>
                    <a:cs typeface="Times New Roman"/>
                  </a:rPr>
                  <a:t>Mean bias (meV/defect)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212A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  <c:majorUnit val="3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7212A"/>
              </a:solidFill>
              <a:latin typeface="Times New Roman"/>
              <a:ea typeface="Times New Roman"/>
              <a:cs typeface="Times New Roman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Mixed low training</c:v>
          </c:tx>
          <c:spPr>
            <a:solidFill xmlns:a="http://schemas.openxmlformats.org/drawingml/2006/main">
              <a:srgbClr val="7D8891"/>
            </a:solidFill>
            <a:ln xmlns:a="http://schemas.openxmlformats.org/drawingml/2006/main" w="0">
              <a:solidFill>
                <a:srgbClr val="7D8891"/>
              </a:solidFill>
            </a:ln>
          </c:spPr>
          <c:cat>
            <c:strRef>
              <c:f>'Chart Data'!$A$2:$A$4</c:f>
              <c:strCache>
                <c:ptCount val="3"/>
                <c:pt idx="0">
                  <c:v>Sparse</c:v>
                </c:pt>
                <c:pt idx="1">
                  <c:v>Attention</c:v>
                </c:pt>
                <c:pt idx="2">
                  <c:v>Shared hetero</c:v>
                </c:pt>
              </c:strCache>
            </c:str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113.740639</c:v>
                </c:pt>
                <c:pt idx="1">
                  <c:v>106.536773</c:v>
                </c:pt>
                <c:pt idx="2">
                  <c:v>59.054647</c:v>
                </c:pt>
              </c:numCache>
            </c:numRef>
          </c:val>
        </c:ser>
        <c:ser>
          <c:idx val="1"/>
          <c:order val="1"/>
          <c:tx>
            <c:v>WSe₂-only low training</c:v>
          </c:tx>
          <c:spPr>
            <a:solidFill xmlns:a="http://schemas.openxmlformats.org/drawingml/2006/main">
              <a:srgbClr val="A32638"/>
            </a:solidFill>
            <a:ln xmlns:a="http://schemas.openxmlformats.org/drawingml/2006/main" w="0">
              <a:solidFill>
                <a:srgbClr val="A32638"/>
              </a:solidFill>
            </a:ln>
          </c:spPr>
          <c:cat>
            <c:strRef>
              <c:f>'Chart Data'!$C$2:$C$4</c:f>
              <c:strCache>
                <c:ptCount val="3"/>
                <c:pt idx="0">
                  <c:v>Sparse</c:v>
                </c:pt>
                <c:pt idx="1">
                  <c:v>Attention</c:v>
                </c:pt>
                <c:pt idx="2">
                  <c:v>Shared hetero</c:v>
                </c:pt>
              </c:strCache>
            </c:str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36.966638</c:v>
                </c:pt>
                <c:pt idx="1">
                  <c:v>46.232918</c:v>
                </c:pt>
                <c:pt idx="2">
                  <c:v>52.188476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7212A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7D889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</c:catAx>
      <c:valAx>
        <c:axId val="48672768"/>
        <c:scaling>
          <c:orientation val="minMax"/>
          <c:max val="14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D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212A"/>
                    </a:solidFill>
                    <a:latin typeface="Times New Roman"/>
                    <a:ea typeface="Times New Roman"/>
                    <a:cs typeface="Times New Roman"/>
                  </a:rPr>
                  <a:t>MAE (meV/defect)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212A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  <c:majorUnit val="3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7212A"/>
              </a:solidFill>
              <a:latin typeface="Times New Roman"/>
              <a:ea typeface="Times New Roman"/>
              <a:cs typeface="Times New Roman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High test</c:v>
          </c:tx>
          <c:spPr>
            <a:solidFill xmlns:a="http://schemas.openxmlformats.org/drawingml/2006/main">
              <a:srgbClr val="346F96"/>
            </a:solidFill>
            <a:ln xmlns:a="http://schemas.openxmlformats.org/drawingml/2006/main" w="0">
              <a:solidFill>
                <a:srgbClr val="346F96"/>
              </a:solidFill>
            </a:ln>
          </c:spPr>
          <c:dPt>
            <c:idx val="0"/>
            <c:invertIfNegative val="0"/>
            <c:spPr>
              <a:solidFill xmlns:a="http://schemas.openxmlformats.org/drawingml/2006/main">
                <a:srgbClr val="A32638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No hypergraph update</c:v>
                </c:pt>
                <c:pt idx="1">
                  <c:v>Local only</c:v>
                </c:pt>
                <c:pt idx="2">
                  <c:v>Local + global</c:v>
                </c:pt>
              </c:strCache>
            </c:str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61.940717</c:v>
                </c:pt>
                <c:pt idx="1">
                  <c:v>75.823139</c:v>
                </c:pt>
                <c:pt idx="2">
                  <c:v>68.386025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7212A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7D889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D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212A"/>
                    </a:solidFill>
                    <a:latin typeface="Times New Roman"/>
                    <a:ea typeface="Times New Roman"/>
                    <a:cs typeface="Times New Roman"/>
                  </a:rPr>
                  <a:t>MAE (meV/defect)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212A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  <c:majorUnit val="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34e63c9b574e7a"/>
          <a:stretch xmlns:a="http://schemas.openxmlformats.org/drawingml/2006/main"/>
        </p:blipFill>
        <p:spPr>
          <a:xfrm xmlns:a="http://schemas.openxmlformats.org/drawingml/2006/main">
            <a:off x="333375" y="336826"/>
            <a:ext cx="3095625" cy="593174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D4C278-1F6C-411E-B5DF-976DFA5E6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526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80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80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Hetero GNNs for defects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680C1C-87A5-4737-ABBD-292C6686B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90875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Low-to-high generalization in 2DMD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A5F3FB-8B5D-49E6-995A-7EDA75EAE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387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WU Hao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7BE12F-A136-489F-851E-E05C4F836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435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Group meeting    2026/9/15</a:t>
            </a:r>
          </a:p>
        </p:txBody>
      </p:sp>
    </p:spTree>
    <p:extLst>
      <p:ext uri="{BB962C8B-B14F-4D97-AF65-F5344CB8AC3E}">
        <p14:creationId xmlns:p14="http://schemas.microsoft.com/office/powerpoint/2010/main" val="3047378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4625e259f84554"/>
          <a:stretch xmlns:a="http://schemas.openxmlformats.org/drawingml/2006/main"/>
        </p:blipFill>
        <p:spPr>
          <a:xfrm xmlns:a="http://schemas.openxmlformats.org/drawingml/2006/main">
            <a:off x="9305925" y="193979"/>
            <a:ext cx="2647950" cy="50739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6920DC-4952-4969-BA80-7276E5FD9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Recap: limited low-to-high transfer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0BFC3F-5484-46EE-B397-3995DACB5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381750"/>
            <a:ext cx="10858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rPr>
              <a:t>Historical results from supplied training logs. Remote checkpoint configuration was not verified.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C1F660-A230-4E22-9B4D-9894D904A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3436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EE8570-C05B-484C-8A85-A11D9994F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95700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Lower low-val MAE, yet 2.51× the high-test error of attention.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3F8F8D-D5F9-45A5-9B42-DF986FD98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43025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Previous MoS₂ low-to-high runs. MAE in eV/defect.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306EDB-023D-40FC-BAFB-CD520EAE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38650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Motivation for the current changes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D108BC-609D-4604-B39A-C781983A5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43475"/>
            <a:ext cx="1104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Shared core + adapters: train the message core using all four relations.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7F0DF6-44B9-4A3A-B77A-DD5AAEC1B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10200"/>
            <a:ext cx="1104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Energy mean readout: predict each defect contribution before averaging.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C14EF4-5E70-4A9E-B01D-E6A7CD9F4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95975"/>
            <a:ext cx="1104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rPr>
              <a:t>Separate ablations are needed to determine the contribution of each change.</a:t>
            </a:r>
          </a:p>
        </p:txBody>
      </p:sp>
      <p:graphicFrame>
        <p:nvGraphicFramePr>
          <p:cNvPr id="23" name=""/>
          <p:cNvGraphicFramePr/>
          <p:nvPr/>
        </p:nvGraphicFramePr>
        <p:xfrm>
          <a:off xmlns:a="http://schemas.openxmlformats.org/drawingml/2006/main" x="571500" y="1924050"/>
          <a:ext xmlns:a="http://schemas.openxmlformats.org/drawingml/2006/main" cx="11049000" cy="15430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286250"/>
                <a:gridCol w="3381375"/>
                <a:gridCol w="3381375"/>
              </a:tblGrid>
              <a:tr h="5143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Previous model</a:t>
                      </a:r>
                    </a:p>
                  </a:txBody>
                  <a:tcPr marL="114300" marR="114300" marT="85725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Best low-val MAE</a:t>
                      </a:r>
                    </a:p>
                  </a:txBody>
                  <a:tcPr marL="114300" marR="114300" marT="85725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High-test MAE</a:t>
                      </a:r>
                    </a:p>
                  </a:txBody>
                  <a:tcPr marL="114300" marR="114300" marT="85725" marB="76200" anchor="ctr">
                    <a:solidFill>
                      <a:srgbClr val="A32638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ALIGNN attention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0.002183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0.051590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A326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ALIGNN hetero, independent</a:t>
                      </a:r>
                    </a:p>
                  </a:txBody>
                  <a:tcPr marL="114300" marR="114300" marT="85725" marB="76200" anchor="ctr">
                    <a:solidFill>
                      <a:srgbClr val="F7EB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A326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0.001807</a:t>
                      </a:r>
                    </a:p>
                  </a:txBody>
                  <a:tcPr marL="114300" marR="114300" marT="85725" marB="76200" anchor="ctr">
                    <a:solidFill>
                      <a:srgbClr val="F7EB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A326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0.129310</a:t>
                      </a:r>
                    </a:p>
                  </a:txBody>
                  <a:tcPr marL="114300" marR="114300" marT="85725" marB="76200" anchor="ctr">
                    <a:solidFill>
                      <a:srgbClr val="F7EBED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53986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66ca370b044bba"/>
          <a:stretch xmlns:a="http://schemas.openxmlformats.org/drawingml/2006/main"/>
        </p:blipFill>
        <p:spPr>
          <a:xfrm xmlns:a="http://schemas.openxmlformats.org/drawingml/2006/main">
            <a:off x="9305925" y="193979"/>
            <a:ext cx="2647950" cy="50739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7C334D-D0BA-4AA3-A8B3-D42210E97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2DMD data and prediction target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F31C28-9BEE-499E-B2CD-D5DDA080A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57925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rPr>
              <a:t>Counts below describe each raw MoS₂/WSe₂ material subset. Mixed-low preprocessing retains 11,864 structures.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CE1E20-9D66-4239-A322-264029A4F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3436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AE7BF0-8CB7-48E2-8DE1-D97A3B3F3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23975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Target:  y = Eformation / Ndefects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71500" y="2238375"/>
          <a:ext xmlns:a="http://schemas.openxmlformats.org/drawingml/2006/main" cx="5238750" cy="3048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048000"/>
                <a:gridCol w="2190750"/>
              </a:tblGrid>
              <a:tr h="6096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Low-density data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Structures per material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 defect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 defects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127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 defects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5,802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Total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5,933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"/>
          <p:cNvGraphicFramePr/>
          <p:nvPr/>
        </p:nvGraphicFramePr>
        <p:xfrm>
          <a:off xmlns:a="http://schemas.openxmlformats.org/drawingml/2006/main" x="6238875" y="2238375"/>
          <a:ext xmlns:a="http://schemas.openxmlformats.org/drawingml/2006/main" cx="5381625" cy="2190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095625"/>
                <a:gridCol w="2286000"/>
              </a:tblGrid>
              <a:tr h="7302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High-density data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Structures per material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</a:tr>
              <a:tr h="7302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4, 9, 14, 19, 24 defects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100 at each count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7302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Total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500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A29CF6-6A65-41F7-9106-BC7EE36F4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791075"/>
            <a:ext cx="5095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97.8% of low structures have exactly 3 defects.</a:t>
            </a:r>
          </a:p>
        </p:txBody>
      </p:sp>
    </p:spTree>
    <p:extLst>
      <p:ext uri="{BB962C8B-B14F-4D97-AF65-F5344CB8AC3E}">
        <p14:creationId xmlns:p14="http://schemas.microsoft.com/office/powerpoint/2010/main" val="12488151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8c87746b824ea3"/>
          <a:stretch xmlns:a="http://schemas.openxmlformats.org/drawingml/2006/main"/>
        </p:blipFill>
        <p:spPr>
          <a:xfrm xmlns:a="http://schemas.openxmlformats.org/drawingml/2006/main">
            <a:off x="9305925" y="193979"/>
            <a:ext cx="2647950" cy="50739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6C1501-1AAB-4ACB-BAB9-E6F168257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Evaluation protocols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EF76AD-5BCB-4242-A049-35DAE6982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57925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rPr>
              <a:t>Checkpoint selection and learning-rate scheduling use validation data from the training domain.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8E0E3E-D267-49C4-8E79-CAF842CD5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3436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476250" y="1476375"/>
          <a:ext xmlns:a="http://schemas.openxmlformats.org/drawingml/2006/main" cx="11239500" cy="40481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048000"/>
                <a:gridCol w="4333875"/>
                <a:gridCol w="3857625"/>
              </a:tblGrid>
              <a:tr h="80962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Experiment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Training / validation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Test set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Low-domain benchmark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Mixed MoS₂ + WSe₂ low</a:t>
                      </a:r>
                    </a:p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7,118 / 2,373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Held-out low: 2,373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High-domain benchmark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Six-material high</a:t>
                      </a:r>
                    </a:p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1,800 / 600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Held-out high: 600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Single-material transfer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One material low</a:t>
                      </a:r>
                    </a:p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4,746 / 1,187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Same material high: 500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Mixed-material transfer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Mixed low checkpoint</a:t>
                      </a:r>
                    </a:p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Same low split as above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MoS₂ high: 500</a:t>
                      </a:r>
                    </a:p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WSe₂ high: 500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324B23-26EF-443A-B8FF-E0C715D82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05475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Low-domain MAE and low-to-high MAE answer different questions.</a:t>
            </a:r>
          </a:p>
        </p:txBody>
      </p:sp>
    </p:spTree>
    <p:extLst>
      <p:ext uri="{BB962C8B-B14F-4D97-AF65-F5344CB8AC3E}">
        <p14:creationId xmlns:p14="http://schemas.microsoft.com/office/powerpoint/2010/main" val="15944419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a701733e8940b8"/>
          <a:stretch xmlns:a="http://schemas.openxmlformats.org/drawingml/2006/main"/>
        </p:blipFill>
        <p:spPr>
          <a:xfrm xmlns:a="http://schemas.openxmlformats.org/drawingml/2006/main">
            <a:off x="9305925" y="193979"/>
            <a:ext cx="2647950" cy="50739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F8A658-1FBB-4E1F-8E28-6CABAA4FB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Models compared in the current study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DB777F-A8FC-4580-B269-563935E77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57925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rPr>
              <a:t>Architectures below refer to the HERA implementations. These comparisons change more than pooling.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395AE1-1655-4696-8A32-493E5FD3E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3436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rPr>
              <a:t>5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476250" y="1457325"/>
          <a:ext xmlns:a="http://schemas.openxmlformats.org/drawingml/2006/main" cx="11239500" cy="42386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857500"/>
                <a:gridCol w="4905375"/>
                <a:gridCol w="3476625"/>
              </a:tblGrid>
              <a:tr h="5143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Model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Graph / messages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Readout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MEGNet sparse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Defect-only graph, 12 Å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Current + original species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Max in message/state blocks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Node + edge Set2Set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and global state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ALIGNN attention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Atom/bond-angle graph, 6 Å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Type-aware neighbor attention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Shared message network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Type- and context-aware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global attention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Shared ALIGNN hetero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Four directed relation types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One message core per layer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Rank-8 relation adapters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Mean of per-defect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scalar predictions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DefiNet-style ALIGNN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Marker-pair and distance gates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Scalar branch implemented in HERA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Mean over all nodes,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then MLP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1701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2265293bce4892"/>
          <a:stretch xmlns:a="http://schemas.openxmlformats.org/drawingml/2006/main"/>
        </p:blipFill>
        <p:spPr>
          <a:xfrm xmlns:a="http://schemas.openxmlformats.org/drawingml/2006/main">
            <a:off x="9305925" y="193979"/>
            <a:ext cx="2647950" cy="50739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DCDDF9-5461-4129-8EFD-86F3D9EF6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Shared hetero: previous and current formulas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709303-CDC4-41C0-BE14-2B939B810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1912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rPr>
              <a:t>Each layer has its own weights. Superscript r denotes relation-specific weights.</a:t>
            </a:r>
          </a:p>
          <a:p xmlns:a="http://schemas.openxmlformats.org/drawingml/2006/main">
            <a:pPr>
              <a:buNone/>
              <a:def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rPr>
              <a:t>Edge indices and affine biases are omitted. Relation-wise aggregation is unchanged.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AFD294-1210-4FFB-8808-3A29312D0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3436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rPr>
              <a:t>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62C21F-FE36-4FC1-8A0F-95DFBD2CB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14450"/>
            <a:ext cx="11096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r ∈ {pristine–pristine, defect–defect, pristine–defect, defect–pristine}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476A2D-A848-42C1-8CA1-7B5B19DB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67125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62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[δzᵣ, δvᵣ] = σ(aᵣ) Bᵣ SiLU(Aᵣ [hⱼ, hᵢ, eᵢⱼ])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26033C-7722-4757-BBFF-E85A0970B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zᵣ = Wₛʳhⱼ + Wₜʳhᵢ + Wₑʳeᵢⱼ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D334E7-2533-4A38-A1DC-6B4756A65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05300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W: shared across relations. Aᵣ, Bᵣ, aᵣ: relation-specific. Bottleneck = 8.</a:t>
            </a:r>
          </a:p>
        </p:txBody>
      </p:sp>
      <p:graphicFrame>
        <p:nvGraphicFramePr>
          <p:cNvPr id="24" name=""/>
          <p:cNvGraphicFramePr/>
          <p:nvPr/>
        </p:nvGraphicFramePr>
        <p:xfrm>
          <a:off xmlns:a="http://schemas.openxmlformats.org/drawingml/2006/main" x="571500" y="4848225"/>
          <a:ext xmlns:a="http://schemas.openxmlformats.org/drawingml/2006/main" cx="11049000" cy="9810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333750"/>
                <a:gridCol w="3333750"/>
                <a:gridCol w="4381500"/>
              </a:tblGrid>
              <a:tr h="490538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Independent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Shared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Shared + rank-8 adapters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</a:tr>
              <a:tr h="490538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A326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916,289 parameters</a:t>
                      </a:r>
                    </a:p>
                  </a:txBody>
                  <a:tcPr marL="114300" marR="114300" marT="95250" marB="76200" anchor="ctr">
                    <a:solidFill>
                      <a:srgbClr val="F7EB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A326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614,465 parameters</a:t>
                      </a:r>
                    </a:p>
                  </a:txBody>
                  <a:tcPr marL="114300" marR="114300" marT="95250" marB="76200" anchor="ctr">
                    <a:solidFill>
                      <a:srgbClr val="F7EB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A326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679,193 parameters</a:t>
                      </a:r>
                    </a:p>
                  </a:txBody>
                  <a:tcPr marL="114300" marR="114300" marT="95250" marB="76200" anchor="ctr">
                    <a:solidFill>
                      <a:srgbClr val="F7EBED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7E62DF-0F85-410C-B319-98F81B583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57375"/>
            <a:ext cx="533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Previous: independent cores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B97D96-DFC5-4B7B-9ACB-AF89116B5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857375"/>
            <a:ext cx="5286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Current: shared core + adapters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72B84A-4C52-49F6-8DD3-55139675D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81250"/>
            <a:ext cx="5286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z = Wₛhⱼ + Wₜhᵢ + Wₑeᵢⱼ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D5BE3D-7E2B-4954-8BFA-B56DBEB74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05125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mᵣ = σ(zᵣ) ⊙ Wₘʳhⱼ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4C7514-DA1C-4829-B778-0B1AC22A9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905125"/>
            <a:ext cx="5286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mᵣ = σ(z + δzᵣ) ⊙ (Wₘhⱼ + δvᵣ)</a:t>
            </a:r>
          </a:p>
        </p:txBody>
      </p:sp>
    </p:spTree>
    <p:extLst>
      <p:ext uri="{BB962C8B-B14F-4D97-AF65-F5344CB8AC3E}">
        <p14:creationId xmlns:p14="http://schemas.microsoft.com/office/powerpoint/2010/main" val="2271208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e4f117cee94db0"/>
          <a:stretch xmlns:a="http://schemas.openxmlformats.org/drawingml/2006/main"/>
        </p:blipFill>
        <p:spPr>
          <a:xfrm xmlns:a="http://schemas.openxmlformats.org/drawingml/2006/main">
            <a:off x="9305925" y="193979"/>
            <a:ext cx="2647950" cy="50739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FDFA3F-0798-4997-A823-C8C13D193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Defect readout: previous and current formulas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32FE51-07C7-4C87-B08E-3DC9C03E6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57925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rPr>
              <a:t>Readout is a separate change from relation sharing. Individual scalar contributions have no per-defect labels.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1E4007-E87E-49AE-815F-BA94441DC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3436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rPr>
              <a:t>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8A71FF-068C-4A07-9C3C-EEDC7FA31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04950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Previous: defect_mean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D79ABC-C932-43F1-9F4F-A2FA96D7E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76475"/>
            <a:ext cx="514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ŷ = g((Σᵢ hᵢ) / N)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554DB9-D67F-4D59-86B8-B2BCDE308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09925"/>
            <a:ext cx="5143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Average defect representations,</a:t>
            </a:r>
          </a:p>
          <a:p xmlns:a="http://schemas.openxmlformats.org/drawingml/2006/main">
            <a:pPr>
              <a:buNone/>
              <a:defRPr sz="22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then apply the nonlinear head 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8140F1-4A08-471A-8312-71DBED7E4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504950"/>
            <a:ext cx="5286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Current: defect_energy_mean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04208D-CB9D-4446-87E8-60EED3C21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276475"/>
            <a:ext cx="5286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ŷ = (Σᵢ g(hᵢ)) / 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C48DAB-6CC8-42F3-BEDF-A98964987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209925"/>
            <a:ext cx="52863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Apply the same head g to each defect,</a:t>
            </a:r>
          </a:p>
          <a:p xmlns:a="http://schemas.openxmlformats.org/drawingml/2006/main">
            <a:pPr>
              <a:buNone/>
              <a:defRPr sz="22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then average the scalar predictions.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B19DBA-7EF8-49A0-B57C-5A4143D42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38650"/>
            <a:ext cx="11001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i ∈ D, where D contains actual defects and N = |D|.</a:t>
            </a:r>
          </a:p>
          <a:p xmlns:a="http://schemas.openxmlformats.org/drawingml/2006/main">
            <a:pPr>
              <a:buNone/>
              <a:defRPr sz="217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Same MLP: 64 – 64 – 32 – 1. Same graph-level loss.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CA18AF-3FB7-48E0-917B-B0F4C4377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62600"/>
            <a:ext cx="11001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For nonlinear g, averaging and prediction generally do not commute.</a:t>
            </a:r>
          </a:p>
        </p:txBody>
      </p:sp>
    </p:spTree>
    <p:extLst>
      <p:ext uri="{BB962C8B-B14F-4D97-AF65-F5344CB8AC3E}">
        <p14:creationId xmlns:p14="http://schemas.microsoft.com/office/powerpoint/2010/main" val="81460311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df1b13bf0b4dfe"/>
          <a:stretch xmlns:a="http://schemas.openxmlformats.org/drawingml/2006/main"/>
        </p:blipFill>
        <p:spPr>
          <a:xfrm xmlns:a="http://schemas.openxmlformats.org/drawingml/2006/main">
            <a:off x="9305925" y="193979"/>
            <a:ext cx="2647950" cy="50739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86CD4B-F72D-4057-9BFE-2ECFF0CCF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Mixed-low training: high-test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EC5155-5C28-4C15-A6E2-6E197CBC7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57925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rPr>
              <a:t>Same 500 test IDs and targets per material. Historical baselines use earlier training versions / precision.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27DDBB-3E27-4F1B-99AC-C7B8644C0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3436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rPr>
              <a:t>8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523875" y="1524000"/>
          <a:ext xmlns:a="http://schemas.openxmlformats.org/drawingml/2006/main" cx="111442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401874446a342df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EAAC3E-B39B-4AAB-8BD3-015FDB876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Current model: MoS₂ 45.54 meV/defect, WSe₂ 59.05 meV/defect</a:t>
            </a:r>
          </a:p>
        </p:txBody>
      </p:sp>
    </p:spTree>
    <p:extLst>
      <p:ext uri="{BB962C8B-B14F-4D97-AF65-F5344CB8AC3E}">
        <p14:creationId xmlns:p14="http://schemas.microsoft.com/office/powerpoint/2010/main" val="206927015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5e767e85bc4366"/>
          <a:stretch xmlns:a="http://schemas.openxmlformats.org/drawingml/2006/main"/>
        </p:blipFill>
        <p:spPr>
          <a:xfrm xmlns:a="http://schemas.openxmlformats.org/drawingml/2006/main">
            <a:off x="9305925" y="193979"/>
            <a:ext cx="2647950" cy="50739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EF1485-603E-46BD-BD56-247396143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Error grows with defect count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A28F73-9A0B-47D4-873F-5269B6A07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57925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rPr>
              <a:t>Current mixed-low shared hetero. Each point contains 100 high-density structures per material.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ED3AB3-93BC-4C86-A2E9-5628FBCD1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3436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rPr>
              <a:t>9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381000" y="1638300"/>
          <a:ext xmlns:a="http://schemas.openxmlformats.org/drawingml/2006/main" cx="5619750" cy="3771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42b668939964064"/>
          </a:graphicData>
        </a:graphic>
      </p:graphicFrame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6191250" y="1638300"/>
          <a:ext xmlns:a="http://schemas.openxmlformats.org/drawingml/2006/main" cx="5619750" cy="3771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05eeea5ada74798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F1FC8A-B9E6-4B6E-9E44-402294939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86425"/>
            <a:ext cx="11049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At 24 defects, mean bias is +83.6 meV on MoS₂ and +116.6 meV on WSe₂.</a:t>
            </a:r>
          </a:p>
        </p:txBody>
      </p:sp>
    </p:spTree>
    <p:extLst>
      <p:ext uri="{BB962C8B-B14F-4D97-AF65-F5344CB8AC3E}">
        <p14:creationId xmlns:p14="http://schemas.microsoft.com/office/powerpoint/2010/main" val="184585044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40a9b4834b4a03"/>
          <a:stretch xmlns:a="http://schemas.openxmlformats.org/drawingml/2006/main"/>
        </p:blipFill>
        <p:spPr>
          <a:xfrm xmlns:a="http://schemas.openxmlformats.org/drawingml/2006/main">
            <a:off x="9305925" y="193979"/>
            <a:ext cx="2647950" cy="50739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930943-5E75-40BC-853C-5B23B1193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Single-material rankings differ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F2EC36-4A07-4EBE-8A0D-18D4607A9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57925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rPr>
              <a:t>High-test MAE, eV/defect. Seed 123. *MoS₂ shared hetero: supplied history, checkpoint not verified locally.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7D26AF-81DA-47DA-9FA5-C59DE7C14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3436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58E6F8-1066-44F3-9678-F31248ED4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28725"/>
            <a:ext cx="10858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Each model trains on the low subset of its test material.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476250" y="1714500"/>
          <a:ext xmlns:a="http://schemas.openxmlformats.org/drawingml/2006/main" cx="11239500" cy="2857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000500"/>
                <a:gridCol w="3619500"/>
                <a:gridCol w="3619500"/>
              </a:tblGrid>
              <a:tr h="714375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Model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MoS₂ high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WSe₂ high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MEGNet sparse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0.161786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0.036967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ALIGNN attention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0.056992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0.046233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A326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Shared hetero + energy mean</a:t>
                      </a:r>
                    </a:p>
                  </a:txBody>
                  <a:tcPr marL="114300" marR="114300" marT="95250" marB="76200" anchor="ctr">
                    <a:solidFill>
                      <a:srgbClr val="F7EB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A326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0.036838*</a:t>
                      </a:r>
                    </a:p>
                  </a:txBody>
                  <a:tcPr marL="114300" marR="114300" marT="95250" marB="76200" anchor="ctr">
                    <a:solidFill>
                      <a:srgbClr val="F7EB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A326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0.052188</a:t>
                      </a:r>
                    </a:p>
                  </a:txBody>
                  <a:tcPr marL="114300" marR="114300" marT="95250" marB="76200" anchor="ctr">
                    <a:solidFill>
                      <a:srgbClr val="F7EBED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EFA5AA-CEAF-4D89-887A-CA0C2AE53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720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MoS₂: shared hetero has the lowest reported error in this comparison.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B047BF-CAD1-443A-812A-FB8C49D50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19750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WSe₂: sparse and attention remain better than the current hetero.</a:t>
            </a:r>
          </a:p>
        </p:txBody>
      </p:sp>
    </p:spTree>
    <p:extLst>
      <p:ext uri="{BB962C8B-B14F-4D97-AF65-F5344CB8AC3E}">
        <p14:creationId xmlns:p14="http://schemas.microsoft.com/office/powerpoint/2010/main" val="146423667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089533b0f7477d"/>
          <a:stretch xmlns:a="http://schemas.openxmlformats.org/drawingml/2006/main"/>
        </p:blipFill>
        <p:spPr>
          <a:xfrm xmlns:a="http://schemas.openxmlformats.org/drawingml/2006/main">
            <a:off x="9305925" y="193979"/>
            <a:ext cx="2647950" cy="50739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2CEC9C-E06D-49A2-8F55-229423F38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Mixed and single-material training differ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B01A47-2130-4AB7-BD73-6EBF1EFAD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57925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rPr>
              <a:t>Same WSe₂ high test set. Training composition and the number of WSe₂ training examples both change.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BD03CE-79CD-42F1-A9F3-27E3F4E53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3436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rPr>
              <a:t>11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523875" y="1533525"/>
          <a:ext xmlns:a="http://schemas.openxmlformats.org/drawingml/2006/main" cx="1114425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77e57fbfff54a1c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62883C-3690-4F59-9683-6FE8A70D6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86375"/>
            <a:ext cx="1104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WSe₂ training samples: 3,588 in mixed low versus 4,746 in WSe₂-only low.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FB92D9-AF6E-4C04-9400-397043D3C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0250"/>
            <a:ext cx="11049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Material interference is a hypothesis. Historical model versions also differ.</a:t>
            </a:r>
          </a:p>
        </p:txBody>
      </p:sp>
    </p:spTree>
    <p:extLst>
      <p:ext uri="{BB962C8B-B14F-4D97-AF65-F5344CB8AC3E}">
        <p14:creationId xmlns:p14="http://schemas.microsoft.com/office/powerpoint/2010/main" val="5687102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9d536588674793"/>
          <a:stretch xmlns:a="http://schemas.openxmlformats.org/drawingml/2006/main"/>
        </p:blipFill>
        <p:spPr>
          <a:xfrm xmlns:a="http://schemas.openxmlformats.org/drawingml/2006/main">
            <a:off x="9305925" y="193979"/>
            <a:ext cx="2647950" cy="50739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119B7E-C5C0-408C-AC86-85FE01E8D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Hypergraph results depend on the version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A21C59-1F18-4DFC-A14A-6FAABCD26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57925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rPr>
              <a:t>MoS₂ low-to-high, seed 123. Different rows change readout and sometimes other architecture components.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708D45-179F-4B54-ACAA-4C332873F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3436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rPr>
              <a:t>12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476250" y="1552575"/>
          <a:ext xmlns:a="http://schemas.openxmlformats.org/drawingml/2006/main" cx="11239500" cy="34480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143375"/>
                <a:gridCol w="4381500"/>
                <a:gridCol w="2714625"/>
              </a:tblGrid>
              <a:tr h="68961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Version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Readout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High MAE (eV/defect)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</a:tr>
              <a:tr h="68961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Original attention reference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Global attention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0.056992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68961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Hypergraph v2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Earlier hierarchical readout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0.168732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68961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Hypergraph v3, earlier run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Hierarchical attention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0.250031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68961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A326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Hypergraph v3, later run</a:t>
                      </a:r>
                    </a:p>
                  </a:txBody>
                  <a:tcPr marL="114300" marR="114300" marT="95250" marB="76200" anchor="ctr">
                    <a:solidFill>
                      <a:srgbClr val="F7EB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A326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Defect mean, local + global</a:t>
                      </a:r>
                    </a:p>
                  </a:txBody>
                  <a:tcPr marL="114300" marR="114300" marT="95250" marB="76200" anchor="ctr">
                    <a:solidFill>
                      <a:srgbClr val="F7EB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A326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0.068386</a:t>
                      </a:r>
                    </a:p>
                  </a:txBody>
                  <a:tcPr marL="114300" marR="114300" marT="95250" marB="76200" anchor="ctr">
                    <a:solidFill>
                      <a:srgbClr val="F7EBED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E7AD7C-782D-49CF-B591-454857B07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00675"/>
            <a:ext cx="1095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The 0.25 and 0.068 results belong to different trained models.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60BEAB-6B10-43C4-9706-CBCECAE2F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48350"/>
            <a:ext cx="1095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A better readout does not establish a benefit from hypergraph messages.</a:t>
            </a:r>
          </a:p>
        </p:txBody>
      </p:sp>
    </p:spTree>
    <p:extLst>
      <p:ext uri="{BB962C8B-B14F-4D97-AF65-F5344CB8AC3E}">
        <p14:creationId xmlns:p14="http://schemas.microsoft.com/office/powerpoint/2010/main" val="31825345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f66982344048f6"/>
          <a:stretch xmlns:a="http://schemas.openxmlformats.org/drawingml/2006/main"/>
        </p:blipFill>
        <p:spPr>
          <a:xfrm xmlns:a="http://schemas.openxmlformats.org/drawingml/2006/main">
            <a:off x="9305925" y="193979"/>
            <a:ext cx="2647950" cy="50739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71AD29-1729-4E6F-B940-BC458200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Hypergraph updates: matched ablation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2AFC6E-F775-4BA5-9F1E-60629F7DB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57925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rPr>
              <a:t>All MAEs: meV/defect. Fixed v3, defect mean, seed 123. “None” retains the HyperALIGNN backbone.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1864C6-1C8F-464D-86C2-4AA06EB58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3436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rPr>
              <a:t>13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476250" y="1524000"/>
          <a:ext xmlns:a="http://schemas.openxmlformats.org/drawingml/2006/main" cx="7000875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ced540c2c194859"/>
          </a:graphicData>
        </a:graphic>
      </p:graphicFrame>
      <p:graphicFrame>
        <p:nvGraphicFramePr>
          <p:cNvPr id="13" name=""/>
          <p:cNvGraphicFramePr/>
          <p:nvPr/>
        </p:nvGraphicFramePr>
        <p:xfrm>
          <a:off xmlns:a="http://schemas.openxmlformats.org/drawingml/2006/main" x="7934325" y="2066925"/>
          <a:ext xmlns:a="http://schemas.openxmlformats.org/drawingml/2006/main" cx="3733800" cy="24098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905000"/>
                <a:gridCol w="1828800"/>
              </a:tblGrid>
              <a:tr h="602456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Update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Low val MAE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</a:tr>
              <a:tr h="602456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None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2.066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602456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Local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2.313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602456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Local + global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2.239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54B603-08B5-4D81-987C-CEC08B195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43575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Neither enabled update improves on “none” in this run.</a:t>
            </a:r>
          </a:p>
        </p:txBody>
      </p:sp>
    </p:spTree>
    <p:extLst>
      <p:ext uri="{BB962C8B-B14F-4D97-AF65-F5344CB8AC3E}">
        <p14:creationId xmlns:p14="http://schemas.microsoft.com/office/powerpoint/2010/main" val="92624033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a61a2b838b47f5"/>
          <a:stretch xmlns:a="http://schemas.openxmlformats.org/drawingml/2006/main"/>
        </p:blipFill>
        <p:spPr>
          <a:xfrm xmlns:a="http://schemas.openxmlformats.org/drawingml/2006/main">
            <a:off x="9305925" y="193979"/>
            <a:ext cx="2647950" cy="50739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A09305-8FF2-4595-BF88-92BFD2E76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Reproducibility and training sensitivity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919D81-F5BA-4082-B1D5-D9DF1149F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57925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rPr>
              <a:t>MAE: eV/defect. Short-run numerical differences do not explain the full historical accuracy gap.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C7B3F4-A8B6-45E4-BB88-AC25BDCE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3436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rPr>
              <a:t>14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476250" y="1485900"/>
          <a:ext xmlns:a="http://schemas.openxmlformats.org/drawingml/2006/main" cx="11239500" cy="18288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762500"/>
                <a:gridCol w="3238500"/>
                <a:gridCol w="3238500"/>
              </a:tblGrid>
              <a:tr h="60960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MoS₂ sparse run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Best low val MAE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High MAE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Local saved run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0.002972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0.161786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New supplied run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0.002466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0.192789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193CBF-4DEE-4DE0-9506-5A12B66C2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0997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Lower low-domain validation error accompanied worse high-domain error.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476250" y="4333875"/>
          <a:ext xmlns:a="http://schemas.openxmlformats.org/drawingml/2006/main" cx="11239500" cy="16859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5429250"/>
                <a:gridCol w="5810250"/>
              </a:tblGrid>
              <a:tr h="421481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Independent-process audit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Finding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</a:tr>
              <a:tr h="421481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Fixed checkpoint inference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Exact across repeat GPU runs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421481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100 training steps on GPU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First gradient differs by up to 7.45 × 10⁻⁹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421481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100 training steps on CPU, 1 thread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Exact repeat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485582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52e547d89f47ec"/>
          <a:stretch xmlns:a="http://schemas.openxmlformats.org/drawingml/2006/main"/>
        </p:blipFill>
        <p:spPr>
          <a:xfrm xmlns:a="http://schemas.openxmlformats.org/drawingml/2006/main">
            <a:off x="9305925" y="193979"/>
            <a:ext cx="2647950" cy="50739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55EBD4-4D66-4962-95AB-E7C0468D8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Next controlled hetero experiments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6552D7-C87C-49FF-99AF-10642A80D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57925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rPr>
              <a:t>Implemented options. Full low-to-high accuracy results are not yet available locally.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FA3E2F-1552-4EAC-BB4E-8401B197D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3436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rPr>
              <a:t>15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476250" y="1562100"/>
          <a:ext xmlns:a="http://schemas.openxmlformats.org/drawingml/2006/main" cx="11239500" cy="34480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809875"/>
                <a:gridCol w="4381500"/>
                <a:gridCol w="4048125"/>
              </a:tblGrid>
              <a:tr h="862013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Variant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Single intended change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Question tested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</a:tr>
              <a:tr h="862013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Current baseline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Shared + rank-8 adapters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Energy mean readout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Reference result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862013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Cross-relation attention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Normalize gate logits across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all incoming relations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Does relation-wise normalization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lose useful competition?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862013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Sparse residual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Add 12 Å defect–defect messages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Distance RBF + ordinary mean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Zero-initialized output projection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Does direct defect geometry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help at higher density?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779BDC-B9E8-4BCC-852B-917B1A884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81625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Compare each change separately with the same split and initialization.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35D95D-BB09-460C-9E20-71FE48132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4835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A zero initial residual matches the baseline initially, but gives no accuracy guarantee.</a:t>
            </a:r>
          </a:p>
        </p:txBody>
      </p:sp>
    </p:spTree>
    <p:extLst>
      <p:ext uri="{BB962C8B-B14F-4D97-AF65-F5344CB8AC3E}">
        <p14:creationId xmlns:p14="http://schemas.microsoft.com/office/powerpoint/2010/main" val="103463969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f91b6acd44474d"/>
          <a:stretch xmlns:a="http://schemas.openxmlformats.org/drawingml/2006/main"/>
        </p:blipFill>
        <p:spPr>
          <a:xfrm xmlns:a="http://schemas.openxmlformats.org/drawingml/2006/main">
            <a:off x="9305925" y="193979"/>
            <a:ext cx="2647950" cy="50739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F154F2-E7EB-4940-BBFE-8D27EF8CC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Full benchmark protocol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535A0B-9ECD-44F9-BD93-7399A6A9D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57925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rPr>
              <a:t>Prepared command and inference support. The complete benchmark has no new local result table yet.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AB2E7E-3BFB-4D0D-BE8E-96ECBEE46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3436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rPr>
              <a:t>16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476250" y="1533525"/>
          <a:ext xmlns:a="http://schemas.openxmlformats.org/drawingml/2006/main" cx="11239500" cy="35528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857500"/>
                <a:gridCol w="4381500"/>
                <a:gridCol w="4000500"/>
              </a:tblGrid>
              <a:tr h="888206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Stage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Coverage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Output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</a:tr>
              <a:tr h="888206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 Domain benchmarks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CGCNN, MEGNet, ALIGNN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All supported modes on low and high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32 modes × 2 datasets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64 training runs at seed 123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888206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2. Low-to-high evaluation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Load only 2dmd_low checkpoints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Evaluate MoS₂ and WSe₂ separately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32 models × 2 materials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Per-model predictions and MAE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888206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3. Stability follow-up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Repeat selected comparisons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with multiple fixed seeds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Mean ± standard deviation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Error and bias by defect count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45CACA-AB22-49C5-A6B7-19E4B1BF1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292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Freeze the protocol before interpreting the final model ranking.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C4E67B-CF25-4A1D-8C85-4AF3D2333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1104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“All” includes supported WAS variants. Duplicate hetero fixed-pool r=0 is skipped.</a:t>
            </a:r>
          </a:p>
        </p:txBody>
      </p:sp>
    </p:spTree>
    <p:extLst>
      <p:ext uri="{BB962C8B-B14F-4D97-AF65-F5344CB8AC3E}">
        <p14:creationId xmlns:p14="http://schemas.microsoft.com/office/powerpoint/2010/main" val="187994455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3455e70b224cac"/>
          <a:stretch xmlns:a="http://schemas.openxmlformats.org/drawingml/2006/main"/>
        </p:blipFill>
        <p:spPr>
          <a:xfrm xmlns:a="http://schemas.openxmlformats.org/drawingml/2006/main">
            <a:off x="9305925" y="193979"/>
            <a:ext cx="2647950" cy="50739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0500E8-C89B-436B-AB3B-2D76B7BCE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Conclusions and next steps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BEC8F0-9058-4E75-BA19-AA15B9037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57925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rPr>
              <a:t>Current conclusions are limited to the available configurations and seed-123 runs.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3C018E-E380-43D6-9E76-4B2311FE0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3436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EFC3B8-0942-4379-AD08-82AA155BB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95425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Shared hetero is a stronger current baseline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A36FBD-F2C9-4CAE-9EB5-C0C419755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85975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Mixed-low high MAE: MoS₂ 0.04554, WSe₂ 0.05905 eV/defect.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0088FC-BF6C-45D7-953B-4E2340444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09925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Dense-defect generalization remains unresolved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B2D2F0-16F6-43CC-A13F-6E2A0EAC3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00475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The residual error increasingly reflects positive bias as defect count rises.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7B5984-8A5A-4284-A693-0B3CB963B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768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The next decision needs matched experiments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F8A946-8D3D-47E7-A729-6B8A5A9F4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67350"/>
            <a:ext cx="1095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Finish the all-model benchmark, then compare relation attention and</a:t>
            </a:r>
          </a:p>
          <a:p xmlns:a="http://schemas.openxmlformats.org/drawingml/2006/main">
            <a:pPr>
              <a:defRPr sz="217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distance-based defect residuals with repeated seeds.</a:t>
            </a:r>
          </a:p>
        </p:txBody>
      </p:sp>
    </p:spTree>
    <p:extLst>
      <p:ext uri="{BB962C8B-B14F-4D97-AF65-F5344CB8AC3E}">
        <p14:creationId xmlns:p14="http://schemas.microsoft.com/office/powerpoint/2010/main" val="108022721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3b264aa6e54f9c"/>
          <a:stretch xmlns:a="http://schemas.openxmlformats.org/drawingml/2006/main"/>
        </p:blipFill>
        <p:spPr>
          <a:xfrm xmlns:a="http://schemas.openxmlformats.org/drawingml/2006/main">
            <a:off x="9305925" y="193979"/>
            <a:ext cx="2647950" cy="50739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6DA833-8238-406A-8720-D2ADEB3A2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Appendix: attention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EF727D-B11A-43A2-B3A0-2DC094877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57925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rPr>
              <a:t>Mechanistic interpretation below is a hypothesis about generalization, not a controlled causal result.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E60A6E-DF25-4D7A-99EB-10400F45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3436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8DFA4D-6189-4CC2-B160-7D80A7D35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430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Local message and neighbor weighting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A3376C-026F-41FA-9E5A-22E4D3D8A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240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uᵢⱼ = sigmoid(G[hᵢ,hⱼ,eᵢⱼ]) ⊙ MLP([hᵢ,hⱼ,eᵢⱼ])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D0FE01-5C27-4A89-921B-03FB70052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αᵢⱼ = mean of 4 head-wise neighbor softmax weights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CB75D3-A14D-4B63-B406-55815AEB0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19475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Global readout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8A1469-9FCF-43F2-B680-76F5902F2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90975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βᵢ = softmaxᵢ(score[hᵢ, typeᵢ, meanⱼ hⱼ])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A6C1D6-93A3-4D36-971E-582F5A2F3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10100"/>
            <a:ext cx="10953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ŷ = MLP(Σᵢ βᵢ hᵢ)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C29C23-7E04-4C59-8E7E-1FD535669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57825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Shared messages, neighbor competition and learned defect emphasis may help transfer.</a:t>
            </a:r>
          </a:p>
        </p:txBody>
      </p:sp>
    </p:spTree>
    <p:extLst>
      <p:ext uri="{BB962C8B-B14F-4D97-AF65-F5344CB8AC3E}">
        <p14:creationId xmlns:p14="http://schemas.microsoft.com/office/powerpoint/2010/main" val="37114068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2cfebe87b14f72"/>
          <a:stretch xmlns:a="http://schemas.openxmlformats.org/drawingml/2006/main"/>
        </p:blipFill>
        <p:spPr>
          <a:xfrm xmlns:a="http://schemas.openxmlformats.org/drawingml/2006/main">
            <a:off x="9305925" y="193979"/>
            <a:ext cx="2647950" cy="50739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7F0E31-277B-47C7-86C3-79B334F53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Appendix: adapters and DefiNet-style gates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A02F8A-4336-4D38-9EDF-F05DCC1BA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57925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rPr>
              <a:t>The current baseline uses a linear source-message projection plus relation adapters.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AD38DE-AD20-485D-8875-9DC21FA07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3436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rPr>
              <a:t>19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476250" y="1457325"/>
          <a:ext xmlns:a="http://schemas.openxmlformats.org/drawingml/2006/main" cx="11239500" cy="38576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048000"/>
                <a:gridCol w="4857750"/>
                <a:gridCol w="3333750"/>
              </a:tblGrid>
              <a:tr h="7715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Component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Conditioning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Role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Hetero relation adapter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Source, destination and edge state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One adapter per relation per layer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Corrects both gate logits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and message values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DefiNet-style gate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Marker-pair embedding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with separate distance modulation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Reweights a shared message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without neighbor softmax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Pair-message option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MLP([source, destination, edge])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Makes the shared value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explicitly pair-conditioned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Shared-distance option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Shared RBF encoder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with zero-initialized relation offsets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Reduces independent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relation-distance encoders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29837B-50E3-4280-9791-56FFC1900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38800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Pair-message and shared-distance options need separate performance tests.</a:t>
            </a:r>
          </a:p>
        </p:txBody>
      </p:sp>
    </p:spTree>
    <p:extLst>
      <p:ext uri="{BB962C8B-B14F-4D97-AF65-F5344CB8AC3E}">
        <p14:creationId xmlns:p14="http://schemas.microsoft.com/office/powerpoint/2010/main" val="107398660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66bcccbe1743a6"/>
          <a:stretch xmlns:a="http://schemas.openxmlformats.org/drawingml/2006/main"/>
        </p:blipFill>
        <p:spPr>
          <a:xfrm xmlns:a="http://schemas.openxmlformats.org/drawingml/2006/main">
            <a:off x="9305925" y="193979"/>
            <a:ext cx="2647950" cy="50739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812C64-DB35-4077-99C6-E56472FF3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Appendix: checkpoint and metric identity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E73ECC-D9A1-4E2D-B3F5-8A066B938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57925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rPr>
              <a:t>All MAEs below use eV/defect. Paths, source tables and caveats are recorded in the speaker notes.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DEB066-B473-48B0-B7F7-274A97FEF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3436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rPr>
              <a:t>20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476250" y="1543050"/>
          <a:ext xmlns:a="http://schemas.openxmlformats.org/drawingml/2006/main" cx="11239500" cy="34099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7143750"/>
                <a:gridCol w="1619250"/>
                <a:gridCol w="2476500"/>
              </a:tblGrid>
              <a:tr h="5683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Saved model / evaluation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Best epoch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Test MAE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</a:tr>
              <a:tr h="5683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Mixed low, held-out low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303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0.002633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5683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Same mixed-low weights, MoS₂ high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303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0.045536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5683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Same mixed-low weights, WSe₂ high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303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0.059055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5683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Separate high-trained model, high-domain test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214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0.052567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5683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Separate WSe₂-low model, WSe₂ high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243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0.052188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F72510-184B-4814-92B1-5298D7AF5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95900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Shared hetero: r=0, LayerNorm, rank 8, defect_energy_mean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0513B0-D7EE-4A1B-BF7D-20BE20667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91200"/>
            <a:ext cx="1104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Mixed-low checkpoint SHA-256 begins aaf4995019b6dbe7</a:t>
            </a:r>
          </a:p>
        </p:txBody>
      </p:sp>
    </p:spTree>
    <p:extLst>
      <p:ext uri="{BB962C8B-B14F-4D97-AF65-F5344CB8AC3E}">
        <p14:creationId xmlns:p14="http://schemas.microsoft.com/office/powerpoint/2010/main" val="12842488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2026-09-15T15:00:34.4830000Z</dcterms:created>
  <dcterms:modified xsi:type="dcterms:W3CDTF">2026-09-15T15:00:34.4830000Z</dcterms:modified>
</coreProperties>
</file>